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sldSz cx="12192000" cy="6858000"/>
  <p:notesSz cx="6858000" cy="9144000"/>
  <p:embeddedFontLst>
    <p:embeddedFont>
      <p:font typeface="Arial Black" panose="020B0A04020102020204" pitchFamily="34" charset="0"/>
      <p:regular r:id="rId103"/>
      <p:bold r:id="rId104"/>
    </p:embeddedFont>
    <p:embeddedFont>
      <p:font typeface="Raleway ExtraBold" pitchFamily="2" charset="0"/>
      <p:bold r:id="rId105"/>
      <p:boldItalic r:id="rId10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9" roundtripDataSignature="AMtx7mhxXTTITqjA7P0gG93va+4kaMih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customschemas.google.com/relationships/presentationmetadata" Target="meta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d4828c739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d4828c7398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d4828c7398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d4828c7398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d4828c7398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3d4828c7398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d4828c7398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d4828c7398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3d4828c7398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dd4f8bfebc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dd4f8bfebc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3dd4f8bfebc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d4f8bfebc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dd4f8bfebc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3dd4f8bfebc_0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dd4f8bfebc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dd4f8bfebc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g3dd4f8bfebc_0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dd4f8bfebc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dd4f8bfebc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3dd4f8bfebc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dd4f8bfebc_0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dd4f8bfebc_0_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g3dd4f8bfebc_0_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dd4f8bfebc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dd4f8bfebc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3dd4f8bfebc_0_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dd4f8bfebc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dd4f8bfebc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dd4f8bfebc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d4f8bfebc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dd4f8bfebc_0_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3dd4f8bfebc_0_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dd4f8bfebc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dd4f8bfebc_0_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3dd4f8bfebc_0_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dd4f8bfebc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dd4f8bfebc_0_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dd4f8bfebc_0_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dd4f8bfebc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dd4f8bfebc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g3dd4f8bfebc_0_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d4f8bfebc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dd4f8bfebc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3dd4f8bfebc_0_8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dd4f8bfebc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dd4f8bfebc_0_9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3dd4f8bfebc_0_9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dd4f8bfebc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dd4f8bfebc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g3dd4f8bfebc_0_1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dd4f8bfebc_0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dd4f8bfebc_0_1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g3dd4f8bfebc_0_1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dd4f8bfebc_0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dd4f8bfebc_0_1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g3dd4f8bfebc_0_1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dd4f8bfebc_0_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dd4f8bfebc_0_1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g3dd4f8bfebc_0_1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dd4f8bfebc_0_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dd4f8bfebc_0_1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g3dd4f8bfebc_0_1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dd4f8bfebc_0_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dd4f8bfebc_0_1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3dd4f8bfebc_0_1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d4f8bfebc_0_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dd4f8bfebc_0_1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g3dd4f8bfebc_0_1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dd4f8bfebc_0_1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dd4f8bfebc_0_1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g3dd4f8bfebc_0_1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dd4f8bfebc_0_1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dd4f8bfebc_0_1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g3dd4f8bfebc_0_16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dd4f8bfebc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dd4f8bfebc_0_1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g3dd4f8bfebc_0_1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dd4f8bfebc_0_1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dd4f8bfebc_0_1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3dd4f8bfebc_0_18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dd4f8bfebc_0_1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dd4f8bfebc_0_19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g3dd4f8bfebc_0_19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dd4f8bfebc_0_2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dd4f8bfebc_0_20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g3dd4f8bfebc_0_20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dd4f8bfebc_0_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dd4f8bfebc_0_2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g3dd4f8bfebc_0_2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dd4f8bfebc_0_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3dd4f8bfebc_0_2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g3dd4f8bfebc_0_2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dd4f8bfebc_0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dd4f8bfebc_0_2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dd4f8bfebc_0_2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dd4f8bfebc_0_2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dd4f8bfebc_0_2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g3dd4f8bfebc_0_2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dd4f8bfebc_0_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dd4f8bfebc_0_2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g3dd4f8bfebc_0_24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dd4f8bfebc_0_2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dd4f8bfebc_0_2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g3dd4f8bfebc_0_2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dd4f8bfebc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3dd4f8bfebc_0_2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g3dd4f8bfebc_0_2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dd4f8bfebc_0_2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dd4f8bfebc_0_2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g3dd4f8bfebc_0_26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dd4f8bfebc_0_2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dd4f8bfebc_0_2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g3dd4f8bfebc_0_2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dd4f8bfebc_0_2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3dd4f8bfebc_0_2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g3dd4f8bfebc_0_2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dd4f8bfebc_0_2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3dd4f8bfebc_0_2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g3dd4f8bfebc_0_28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dd4f8bfebc_0_2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dd4f8bfebc_0_29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g3dd4f8bfebc_0_29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dd4f8bfebc_0_3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dd4f8bfebc_0_30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g3dd4f8bfebc_0_30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dd4f8bfebc_0_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3dd4f8bfebc_0_3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g3dd4f8bfebc_0_30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dd4f8bfebc_0_3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dd4f8bfebc_0_3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g3dd4f8bfebc_0_3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dd4f8bfebc_0_3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3dd4f8bfebc_0_3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g3dd4f8bfebc_0_3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dd4f8bfebc_0_3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dd4f8bfebc_0_3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g3dd4f8bfebc_0_3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dd4f8bfebc_0_3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3dd4f8bfebc_0_3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g3dd4f8bfebc_0_3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dd4f8bfebc_0_5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3dd4f8bfebc_0_5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g3dd4f8bfebc_0_59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dd4f8bfebc_0_6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dd4f8bfebc_0_60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g3dd4f8bfebc_0_60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dd4f8bfebc_0_6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dd4f8bfebc_0_6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g3dd4f8bfebc_0_6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dd4f8bfebc_0_6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dd4f8bfebc_0_6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g3dd4f8bfebc_0_6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dd4f8bfebc_0_6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dd4f8bfebc_0_6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g3dd4f8bfebc_0_6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dd4f8bfebc_0_6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dd4f8bfebc_0_6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g3dd4f8bfebc_0_6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dd4f8bfebc_0_6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dd4f8bfebc_0_6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g3dd4f8bfebc_0_6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dd4f8bfebc_0_6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dd4f8bfebc_0_6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g3dd4f8bfebc_0_6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dd4f8bfebc_0_6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3dd4f8bfebc_0_6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g3dd4f8bfebc_0_66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dd4f8bfebc_0_3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dd4f8bfebc_0_3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g3dd4f8bfebc_0_35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dd4f8bfebc_0_3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3dd4f8bfebc_0_3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g3dd4f8bfebc_0_35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dd4f8bfebc_0_3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3dd4f8bfebc_0_3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g3dd4f8bfebc_0_3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dd4f8bfebc_0_3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dd4f8bfebc_0_3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g3dd4f8bfebc_0_3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dd4f8bfebc_0_6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3dd4f8bfebc_0_6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g3dd4f8bfebc_0_6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dd4f8bfebc_0_6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3dd4f8bfebc_0_69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g3dd4f8bfebc_0_69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dd4f8bfebc_0_3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9" name="Google Shape;609;g3dd4f8bfebc_0_3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g3dd4f8bfebc_0_3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3dd4f8bfebc_0_3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3dd4f8bfebc_0_3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g3dd4f8bfebc_0_39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dd4f8bfebc_0_4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dd4f8bfebc_0_4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6" name="Google Shape;626;g3dd4f8bfebc_0_4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3dd4f8bfebc_0_4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3dd4f8bfebc_0_4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g3dd4f8bfebc_0_4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dd4f8bfebc_0_4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3dd4f8bfebc_0_4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g3dd4f8bfebc_0_4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dd4f8bfebc_0_4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3dd4f8bfebc_0_4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0" name="Google Shape;650;g3dd4f8bfebc_0_4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dd4f8bfebc_0_4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3dd4f8bfebc_0_4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8" name="Google Shape;658;g3dd4f8bfebc_0_4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dd4f8bfebc_0_4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3dd4f8bfebc_0_4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6" name="Google Shape;666;g3dd4f8bfebc_0_4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dd4f8bfebc_0_4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3dd4f8bfebc_0_4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g3dd4f8bfebc_0_4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dd4f8bfebc_0_4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3dd4f8bfebc_0_4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2" name="Google Shape;682;g3dd4f8bfebc_0_4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dd4f8bfebc_0_4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3dd4f8bfebc_0_4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0" name="Google Shape;690;g3dd4f8bfebc_0_4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3dd4f8bfebc_0_4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3dd4f8bfebc_0_4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8" name="Google Shape;698;g3dd4f8bfebc_0_47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g3dd4f8bfebc_0_4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3dd4f8bfebc_0_4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6" name="Google Shape;706;g3dd4f8bfebc_0_4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dd4f8bfebc_0_4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3dd4f8bfebc_0_4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4" name="Google Shape;714;g3dd4f8bfebc_0_48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3dd4f8bfebc_0_6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3dd4f8bfebc_0_6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2" name="Google Shape;722;g3dd4f8bfebc_0_6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3dd4f8bfebc_0_6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3dd4f8bfebc_0_6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0" name="Google Shape;730;g3dd4f8bfebc_0_6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80</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dd4f8bfebc_0_4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3dd4f8bfebc_0_4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8" name="Google Shape;738;g3dd4f8bfebc_0_49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81</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3dd4f8bfebc_0_5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 name="Google Shape;745;g3dd4f8bfebc_0_5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g3dd4f8bfebc_0_5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3dd4f8bfebc_0_5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3dd4f8bfebc_0_5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g3dd4f8bfebc_0_5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83</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dd4f8bfebc_0_5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1" name="Google Shape;761;g3dd4f8bfebc_0_5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2" name="Google Shape;762;g3dd4f8bfebc_0_5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84</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3dd4f8bfebc_0_5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3dd4f8bfebc_0_5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0" name="Google Shape;770;g3dd4f8bfebc_0_53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3dd4f8bfebc_0_5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3dd4f8bfebc_0_5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8" name="Google Shape;778;g3dd4f8bfebc_0_5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3dd4f8bfebc_0_5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5" name="Google Shape;785;g3dd4f8bfebc_0_5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6" name="Google Shape;786;g3dd4f8bfebc_0_5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3dd4f8bfebc_0_5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3dd4f8bfebc_0_5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4" name="Google Shape;794;g3dd4f8bfebc_0_5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dd4f8bfebc_0_5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3dd4f8bfebc_0_5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2" name="Google Shape;802;g3dd4f8bfebc_0_5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3dd4f8bfebc_0_5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3dd4f8bfebc_0_5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0" name="Google Shape;810;g3dd4f8bfebc_0_56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90</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3dd4f8bfebc_0_5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3dd4f8bfebc_0_5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8" name="Google Shape;818;g3dd4f8bfebc_0_5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3dd4f8bfebc_0_5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5" name="Google Shape;825;g3dd4f8bfebc_0_5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g3dd4f8bfebc_0_58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92</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dd4f8bfebc_0_7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3dd4f8bfebc_0_7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4" name="Google Shape;834;g3dd4f8bfebc_0_7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93</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dd4f8bfebc_0_7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3dd4f8bfebc_0_7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2" name="Google Shape;842;g3dd4f8bfebc_0_7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94</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3dd4f8bfebc_0_7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3dd4f8bfebc_0_7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0" name="Google Shape;850;g3dd4f8bfebc_0_7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95</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3dd4f8bfebc_0_7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7" name="Google Shape;857;g3dd4f8bfebc_0_7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8" name="Google Shape;858;g3dd4f8bfebc_0_7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96</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3dd4f8bfebc_0_7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3dd4f8bfebc_0_7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6" name="Google Shape;866;g3dd4f8bfebc_0_7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97</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3dd4f8bfebc_0_7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3" name="Google Shape;873;g3dd4f8bfebc_0_7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4" name="Google Shape;874;g3dd4f8bfebc_0_7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3dd4f8bfebc_0_7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3dd4f8bfebc_0_7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2" name="Google Shape;882;g3dd4f8bfebc_0_7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99</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3dd4f8bfebc_0_7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3dd4f8bfebc_0_7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0" name="Google Shape;890;g3dd4f8bfebc_0_75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a:spLocks noGrp="1"/>
          </p:cNvSpPr>
          <p:nvPr>
            <p:ph type="pic" idx="2"/>
          </p:nvPr>
        </p:nvSpPr>
        <p:spPr>
          <a:xfrm>
            <a:off x="5183188" y="987425"/>
            <a:ext cx="6172200" cy="4873625"/>
          </a:xfrm>
          <a:prstGeom prst="rect">
            <a:avLst/>
          </a:prstGeom>
          <a:noFill/>
          <a:ln>
            <a:noFill/>
          </a:ln>
        </p:spPr>
      </p:sp>
      <p:sp>
        <p:nvSpPr>
          <p:cNvPr id="68" name="Google Shape;68;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Титульный слайд">
  <p:cSld name="1_Титульный слайд">
    <p:spTree>
      <p:nvGrpSpPr>
        <p:cNvPr id="1" name="Shape 84"/>
        <p:cNvGrpSpPr/>
        <p:nvPr/>
      </p:nvGrpSpPr>
      <p:grpSpPr>
        <a:xfrm>
          <a:off x="0" y="0"/>
          <a:ext cx="0" cy="0"/>
          <a:chOff x="0" y="0"/>
          <a:chExt cx="0" cy="0"/>
        </a:xfrm>
      </p:grpSpPr>
      <p:sp>
        <p:nvSpPr>
          <p:cNvPr id="85" name="Google Shape;85;p15"/>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6" name="Google Shape;86;p15"/>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15"/>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8" name="Google Shape;88;p15"/>
          <p:cNvSpPr>
            <a:spLocks noGrp="1"/>
          </p:cNvSpPr>
          <p:nvPr>
            <p:ph type="pic" idx="2"/>
          </p:nvPr>
        </p:nvSpPr>
        <p:spPr>
          <a:xfrm>
            <a:off x="1847850" y="2819400"/>
            <a:ext cx="8496300" cy="280035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p:nvPr/>
        </p:nvSpPr>
        <p:spPr>
          <a:xfrm>
            <a:off x="290945" y="6180535"/>
            <a:ext cx="45719" cy="376231"/>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 name="Google Shape;94;p1"/>
          <p:cNvSpPr txBox="1"/>
          <p:nvPr/>
        </p:nvSpPr>
        <p:spPr>
          <a:xfrm>
            <a:off x="8763000" y="65087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88888"/>
              </a:solidFill>
              <a:latin typeface="Calibri"/>
              <a:ea typeface="Calibri"/>
              <a:cs typeface="Calibri"/>
              <a:sym typeface="Calibri"/>
            </a:endParaRPr>
          </a:p>
        </p:txBody>
      </p:sp>
      <p:sp>
        <p:nvSpPr>
          <p:cNvPr id="95" name="Google Shape;95;p1"/>
          <p:cNvSpPr/>
          <p:nvPr/>
        </p:nvSpPr>
        <p:spPr>
          <a:xfrm>
            <a:off x="2698031" y="1476029"/>
            <a:ext cx="6829425" cy="2797237"/>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000000"/>
                </a:solidFill>
                <a:latin typeface="Calibri"/>
                <a:ea typeface="Calibri"/>
                <a:cs typeface="Calibri"/>
                <a:sym typeface="Calibri"/>
              </a:rPr>
              <a:t>Submitted in the partial fulfillment for the award of the degree of</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1200"/>
              </a:spcBef>
              <a:spcAft>
                <a:spcPts val="0"/>
              </a:spcAft>
              <a:buClr>
                <a:srgbClr val="000000"/>
              </a:buClr>
              <a:buSzPts val="2400"/>
              <a:buFont typeface="Arial"/>
              <a:buNone/>
            </a:pPr>
            <a:r>
              <a:rPr lang="en-US" sz="2400" b="1" i="0" u="none" strike="noStrike" cap="none" dirty="0">
                <a:solidFill>
                  <a:srgbClr val="000000"/>
                </a:solidFill>
                <a:latin typeface="Calibri"/>
                <a:ea typeface="Calibri"/>
                <a:cs typeface="Calibri"/>
                <a:sym typeface="Calibri"/>
              </a:rPr>
              <a:t>BACHELOR OF ENGINEERING </a:t>
            </a:r>
            <a:endParaRPr sz="24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US" sz="2400" b="0" i="1" u="none" strike="noStrike" cap="none" dirty="0">
                <a:solidFill>
                  <a:srgbClr val="000000"/>
                </a:solidFill>
                <a:latin typeface="Calibri"/>
                <a:ea typeface="Calibri"/>
                <a:cs typeface="Calibri"/>
                <a:sym typeface="Calibri"/>
              </a:rPr>
              <a:t> IN</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dirty="0">
                <a:latin typeface="Calibri"/>
                <a:ea typeface="Calibri"/>
                <a:cs typeface="Calibri"/>
                <a:sym typeface="Calibri"/>
              </a:rPr>
              <a:t>COMPUTER SCIENCE(</a:t>
            </a:r>
            <a:r>
              <a:rPr lang="en-US" sz="2400" b="1" i="0" u="none" strike="noStrike" cap="none" dirty="0">
                <a:solidFill>
                  <a:srgbClr val="000000"/>
                </a:solidFill>
                <a:latin typeface="Calibri"/>
                <a:ea typeface="Calibri"/>
                <a:cs typeface="Calibri"/>
                <a:sym typeface="Calibri"/>
              </a:rPr>
              <a:t>AIML)</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Calibri"/>
                <a:ea typeface="Calibri"/>
                <a:cs typeface="Calibri"/>
                <a:sym typeface="Calibri"/>
              </a:rPr>
              <a:t>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Calibri"/>
                <a:ea typeface="Calibri"/>
                <a:cs typeface="Calibri"/>
                <a:sym typeface="Calibri"/>
              </a:rPr>
              <a:t>COGNIZANT</a:t>
            </a:r>
            <a:endParaRPr sz="1400" b="0" i="0" u="none" strike="noStrike" cap="none" dirty="0">
              <a:solidFill>
                <a:srgbClr val="000000"/>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a:ea typeface="Calibri"/>
              <a:cs typeface="Calibri"/>
              <a:sym typeface="Calibri"/>
            </a:endParaRPr>
          </a:p>
        </p:txBody>
      </p:sp>
      <p:sp>
        <p:nvSpPr>
          <p:cNvPr id="96" name="Google Shape;96;p1"/>
          <p:cNvSpPr/>
          <p:nvPr/>
        </p:nvSpPr>
        <p:spPr>
          <a:xfrm flipH="1">
            <a:off x="9829797" y="5333999"/>
            <a:ext cx="2366623" cy="1600201"/>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 name="Google Shape;97;p1"/>
          <p:cNvSpPr txBox="1"/>
          <p:nvPr/>
        </p:nvSpPr>
        <p:spPr>
          <a:xfrm>
            <a:off x="8174198" y="6038035"/>
            <a:ext cx="36159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DISCOVER.</a:t>
            </a:r>
            <a:r>
              <a:rPr lang="en-US" sz="2000" b="1" i="0" u="none" strike="noStrike" cap="none">
                <a:solidFill>
                  <a:srgbClr val="595959"/>
                </a:solidFill>
                <a:latin typeface="Arial"/>
                <a:ea typeface="Arial"/>
                <a:cs typeface="Arial"/>
                <a:sym typeface="Arial"/>
              </a:rPr>
              <a:t> </a:t>
            </a:r>
            <a:r>
              <a:rPr lang="en-US" sz="2000" b="1" i="0" u="none" strike="noStrike" cap="none">
                <a:solidFill>
                  <a:srgbClr val="FF0000"/>
                </a:solidFill>
                <a:latin typeface="Arial"/>
                <a:ea typeface="Arial"/>
                <a:cs typeface="Arial"/>
                <a:sym typeface="Arial"/>
              </a:rPr>
              <a:t>LEARN</a:t>
            </a:r>
            <a:r>
              <a:rPr lang="en-US" sz="2000" b="1" i="0" u="none" strike="noStrike" cap="none">
                <a:solidFill>
                  <a:schemeClr val="dk1"/>
                </a:solidFill>
                <a:latin typeface="Arial"/>
                <a:ea typeface="Arial"/>
                <a:cs typeface="Arial"/>
                <a:sym typeface="Arial"/>
              </a:rPr>
              <a:t>.</a:t>
            </a:r>
            <a:r>
              <a:rPr lang="en-US" sz="2000" b="1" i="0" u="none" strike="noStrike" cap="none">
                <a:solidFill>
                  <a:srgbClr val="595959"/>
                </a:solidFill>
                <a:latin typeface="Arial"/>
                <a:ea typeface="Arial"/>
                <a:cs typeface="Arial"/>
                <a:sym typeface="Arial"/>
              </a:rPr>
              <a:t> </a:t>
            </a:r>
            <a:r>
              <a:rPr lang="en-US" sz="2000" b="1" i="0" u="none" strike="noStrike" cap="none">
                <a:solidFill>
                  <a:schemeClr val="dk1"/>
                </a:solidFill>
                <a:latin typeface="Arial"/>
                <a:ea typeface="Arial"/>
                <a:cs typeface="Arial"/>
                <a:sym typeface="Arial"/>
              </a:rPr>
              <a:t>EMPOWER</a:t>
            </a:r>
            <a:endParaRPr sz="1200" b="1" i="0" u="none" strike="noStrike" cap="none">
              <a:solidFill>
                <a:schemeClr val="dk1"/>
              </a:solidFill>
              <a:latin typeface="Arial"/>
              <a:ea typeface="Arial"/>
              <a:cs typeface="Arial"/>
              <a:sym typeface="Arial"/>
            </a:endParaRPr>
          </a:p>
        </p:txBody>
      </p:sp>
      <p:sp>
        <p:nvSpPr>
          <p:cNvPr id="98" name="Google Shape;98;p1"/>
          <p:cNvSpPr/>
          <p:nvPr/>
        </p:nvSpPr>
        <p:spPr>
          <a:xfrm flipH="1">
            <a:off x="7995853" y="6186146"/>
            <a:ext cx="45719" cy="37062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1"/>
          <p:cNvSpPr txBox="1"/>
          <p:nvPr/>
        </p:nvSpPr>
        <p:spPr>
          <a:xfrm>
            <a:off x="443346" y="6156656"/>
            <a:ext cx="3523012" cy="430887"/>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Department of AIT-CSE</a:t>
            </a:r>
            <a:endParaRPr sz="1600" b="0" i="0" u="none" strike="noStrike" cap="none">
              <a:solidFill>
                <a:srgbClr val="FF0000"/>
              </a:solidFill>
              <a:latin typeface="Times New Roman"/>
              <a:ea typeface="Times New Roman"/>
              <a:cs typeface="Times New Roman"/>
              <a:sym typeface="Times New Roman"/>
            </a:endParaRPr>
          </a:p>
        </p:txBody>
      </p:sp>
      <p:sp>
        <p:nvSpPr>
          <p:cNvPr id="100" name="Google Shape;100;p1"/>
          <p:cNvSpPr txBox="1"/>
          <p:nvPr/>
        </p:nvSpPr>
        <p:spPr>
          <a:xfrm>
            <a:off x="1657138" y="383693"/>
            <a:ext cx="8477097"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Arial Black"/>
                <a:ea typeface="Arial Black"/>
                <a:cs typeface="Arial Black"/>
                <a:sym typeface="Arial Black"/>
              </a:rPr>
              <a:t>Internship Report</a:t>
            </a:r>
            <a:endParaRPr sz="3600" b="0" i="0" u="none" strike="noStrike" cap="none">
              <a:solidFill>
                <a:schemeClr val="dk1"/>
              </a:solidFill>
              <a:latin typeface="Raleway ExtraBold"/>
              <a:ea typeface="Raleway ExtraBold"/>
              <a:cs typeface="Raleway ExtraBold"/>
              <a:sym typeface="Raleway ExtraBold"/>
            </a:endParaRPr>
          </a:p>
        </p:txBody>
      </p:sp>
      <p:sp>
        <p:nvSpPr>
          <p:cNvPr id="101" name="Google Shape;10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102" name="Google Shape;102;p1"/>
          <p:cNvSpPr txBox="1"/>
          <p:nvPr/>
        </p:nvSpPr>
        <p:spPr>
          <a:xfrm>
            <a:off x="1125479" y="4714596"/>
            <a:ext cx="3656834" cy="13233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Calibri"/>
                <a:ea typeface="Calibri"/>
                <a:cs typeface="Calibri"/>
                <a:sym typeface="Calibri"/>
              </a:rPr>
              <a:t>Submitted by: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Student name</a:t>
            </a:r>
            <a:r>
              <a:rPr lang="en-IN" sz="2000" b="0" i="0" u="none" strike="noStrike" cap="none" dirty="0">
                <a:solidFill>
                  <a:schemeClr val="dk1"/>
                </a:solidFill>
                <a:latin typeface="Calibri"/>
                <a:ea typeface="Calibri"/>
                <a:cs typeface="Calibri"/>
                <a:sym typeface="Calibri"/>
              </a:rPr>
              <a:t>: Ujjwal Mishra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UID: 22BAI70666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Calibri"/>
              <a:ea typeface="Calibri"/>
              <a:cs typeface="Calibri"/>
              <a:sym typeface="Calibri"/>
            </a:endParaRPr>
          </a:p>
        </p:txBody>
      </p:sp>
      <p:sp>
        <p:nvSpPr>
          <p:cNvPr id="103" name="Google Shape;103;p1"/>
          <p:cNvSpPr txBox="1"/>
          <p:nvPr/>
        </p:nvSpPr>
        <p:spPr>
          <a:xfrm>
            <a:off x="6583680" y="4714596"/>
            <a:ext cx="5065775" cy="7078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Calibri"/>
                <a:ea typeface="Calibri"/>
                <a:cs typeface="Calibri"/>
                <a:sym typeface="Calibri"/>
              </a:rPr>
              <a:t>Under the Supervision of: </a:t>
            </a: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alibri"/>
                <a:ea typeface="Calibri"/>
                <a:cs typeface="Calibri"/>
                <a:sym typeface="Calibri"/>
              </a:rPr>
              <a:t>Supervisor name: Manoj </a:t>
            </a:r>
            <a:r>
              <a:rPr lang="en-US" sz="2000" b="0" i="0" u="none" strike="noStrike" cap="none" dirty="0" err="1">
                <a:solidFill>
                  <a:schemeClr val="dk1"/>
                </a:solidFill>
                <a:latin typeface="Calibri"/>
                <a:ea typeface="Calibri"/>
                <a:cs typeface="Calibri"/>
                <a:sym typeface="Calibri"/>
              </a:rPr>
              <a:t>Pragadeeswar</a:t>
            </a:r>
            <a:r>
              <a:rPr lang="en-US" sz="2000" b="0" i="0" u="none" strike="noStrike" cap="none" dirty="0">
                <a:solidFill>
                  <a:schemeClr val="dk1"/>
                </a:solidFill>
                <a:latin typeface="Calibri"/>
                <a:ea typeface="Calibri"/>
                <a:cs typeface="Calibri"/>
                <a:sym typeface="Calibri"/>
              </a:rPr>
              <a:t> M</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
          <p:cNvSpPr txBox="1">
            <a:spLocks noGrp="1"/>
          </p:cNvSpPr>
          <p:nvPr>
            <p:ph type="title"/>
          </p:nvPr>
        </p:nvSpPr>
        <p:spPr>
          <a:xfrm>
            <a:off x="838199" y="60527"/>
            <a:ext cx="10515600" cy="9762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Outline</a:t>
            </a:r>
            <a:endParaRPr/>
          </a:p>
        </p:txBody>
      </p:sp>
      <p:sp>
        <p:nvSpPr>
          <p:cNvPr id="109" name="Google Shape;109;p2"/>
          <p:cNvSpPr txBox="1">
            <a:spLocks noGrp="1"/>
          </p:cNvSpPr>
          <p:nvPr>
            <p:ph type="body" idx="1"/>
          </p:nvPr>
        </p:nvSpPr>
        <p:spPr>
          <a:xfrm>
            <a:off x="980702" y="1175657"/>
            <a:ext cx="11013869" cy="554581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a:t>Introduction to Company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Introduction to your job profile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Introduction to the Project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Problem or Project Brief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Brief objectives of Project/Internship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How the objectives were achieved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Methodology/Tools worked on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Results / observations/ work experiences during the internship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What skills (scientific and professional) were learned during the internship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Concluding Remarks (Challenges faced) </a:t>
            </a:r>
            <a:endParaRPr sz="1800" b="1">
              <a:solidFill>
                <a:srgbClr val="FF0000"/>
              </a:solidFill>
            </a:endParaRPr>
          </a:p>
          <a:p>
            <a:pPr marL="228600" lvl="0" indent="-228600" algn="l" rtl="0">
              <a:lnSpc>
                <a:spcPct val="90000"/>
              </a:lnSpc>
              <a:spcBef>
                <a:spcPts val="1000"/>
              </a:spcBef>
              <a:spcAft>
                <a:spcPts val="0"/>
              </a:spcAft>
              <a:buClr>
                <a:schemeClr val="dk1"/>
              </a:buClr>
              <a:buSzPts val="1800"/>
              <a:buChar char="•"/>
            </a:pPr>
            <a:r>
              <a:rPr lang="en-US" sz="1800"/>
              <a:t>References</a:t>
            </a:r>
            <a:endParaRPr sz="1800"/>
          </a:p>
          <a:p>
            <a:pPr marL="228600" lvl="0" indent="-114300" algn="l" rtl="0">
              <a:lnSpc>
                <a:spcPct val="90000"/>
              </a:lnSpc>
              <a:spcBef>
                <a:spcPts val="1000"/>
              </a:spcBef>
              <a:spcAft>
                <a:spcPts val="0"/>
              </a:spcAft>
              <a:buClr>
                <a:schemeClr val="dk1"/>
              </a:buClr>
              <a:buSzPts val="1800"/>
              <a:buNone/>
            </a:pPr>
            <a:endParaRPr sz="1800"/>
          </a:p>
        </p:txBody>
      </p:sp>
      <p:sp>
        <p:nvSpPr>
          <p:cNvPr id="110" name="Google Shape;1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g3d4828c7398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Company</a:t>
            </a:r>
            <a:endParaRPr/>
          </a:p>
        </p:txBody>
      </p:sp>
      <p:sp>
        <p:nvSpPr>
          <p:cNvPr id="118" name="Google Shape;118;g3d4828c7398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
        <p:nvSpPr>
          <p:cNvPr id="2" name="Text Placeholder 1">
            <a:extLst>
              <a:ext uri="{FF2B5EF4-FFF2-40B4-BE49-F238E27FC236}">
                <a16:creationId xmlns:a16="http://schemas.microsoft.com/office/drawing/2014/main" id="{15DE54EA-A26E-3D0C-602E-8BB7BC6FB572}"/>
              </a:ext>
            </a:extLst>
          </p:cNvPr>
          <p:cNvSpPr>
            <a:spLocks noGrp="1" noChangeArrowheads="1"/>
          </p:cNvSpPr>
          <p:nvPr>
            <p:ph type="body" idx="1"/>
          </p:nvPr>
        </p:nvSpPr>
        <p:spPr bwMode="auto">
          <a:xfrm>
            <a:off x="838200" y="2847132"/>
            <a:ext cx="1069555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Who We Are:</a:t>
            </a:r>
            <a:r>
              <a:rPr kumimoji="0" lang="en-US" altLang="en-US" sz="1800" b="0" i="0" u="none" strike="noStrike" cap="none" normalizeH="0" baseline="0" dirty="0">
                <a:ln>
                  <a:noFill/>
                </a:ln>
                <a:solidFill>
                  <a:schemeClr val="tx1"/>
                </a:solidFill>
                <a:effectLst/>
                <a:latin typeface="Arial" panose="020B0604020202020204" pitchFamily="34" charset="0"/>
              </a:rPr>
              <a:t> A leading professional services company, transforming clients' business, operating, and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technology models for the digital era.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Global Presence:</a:t>
            </a:r>
            <a:r>
              <a:rPr kumimoji="0" lang="en-US" altLang="en-US" sz="1800" b="0" i="0" u="none" strike="noStrike" cap="none" normalizeH="0" baseline="0" dirty="0">
                <a:ln>
                  <a:noFill/>
                </a:ln>
                <a:solidFill>
                  <a:schemeClr val="tx1"/>
                </a:solidFill>
                <a:effectLst/>
                <a:latin typeface="Arial" panose="020B0604020202020204" pitchFamily="34" charset="0"/>
              </a:rPr>
              <a:t> Headquartered in Teaneck, New Jersey; extensive delivery centers across India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(including Coimbatore, Chennai, Pune, Bangalore,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Start with the Client:</a:t>
            </a:r>
            <a:r>
              <a:rPr kumimoji="0" lang="en-US" altLang="en-US" sz="1800" b="0" i="0" u="none" strike="noStrike" cap="none" normalizeH="0" baseline="0" dirty="0">
                <a:ln>
                  <a:noFill/>
                </a:ln>
                <a:solidFill>
                  <a:schemeClr val="tx1"/>
                </a:solidFill>
                <a:effectLst/>
                <a:latin typeface="Arial" panose="020B0604020202020204" pitchFamily="34" charset="0"/>
              </a:rPr>
              <a:t> Focused on delivering high-quality, bug-free software.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Focus on Excellence:</a:t>
            </a:r>
            <a:r>
              <a:rPr kumimoji="0" lang="en-US" altLang="en-US" sz="1800" b="0" i="0" u="none" strike="noStrike" cap="none" normalizeH="0" baseline="0" dirty="0">
                <a:ln>
                  <a:noFill/>
                </a:ln>
                <a:solidFill>
                  <a:schemeClr val="tx1"/>
                </a:solidFill>
                <a:effectLst/>
                <a:latin typeface="Arial" panose="020B0604020202020204" pitchFamily="34" charset="0"/>
              </a:rPr>
              <a:t> Directly aligns with the SDET mission of quality engineering.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Work as One:</a:t>
            </a:r>
            <a:r>
              <a:rPr kumimoji="0" lang="en-US" altLang="en-US" sz="1800" b="0" i="0" u="none" strike="noStrike" cap="none" normalizeH="0" baseline="0" dirty="0">
                <a:ln>
                  <a:noFill/>
                </a:ln>
                <a:solidFill>
                  <a:schemeClr val="tx1"/>
                </a:solidFill>
                <a:effectLst/>
                <a:latin typeface="Arial" panose="020B0604020202020204" pitchFamily="34" charset="0"/>
              </a:rPr>
              <a:t> Collaborating across development and testing teams.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3d4828c7398_0_1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Company</a:t>
            </a:r>
            <a:endParaRPr/>
          </a:p>
        </p:txBody>
      </p:sp>
      <p:sp>
        <p:nvSpPr>
          <p:cNvPr id="125" name="Google Shape;125;g3d4828c7398_0_1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b="1" dirty="0">
                <a:latin typeface="Times New Roman"/>
                <a:ea typeface="Times New Roman"/>
                <a:cs typeface="Times New Roman"/>
                <a:sym typeface="Times New Roman"/>
              </a:rPr>
              <a:t>Company Overview:</a:t>
            </a:r>
            <a:endParaRPr b="1" dirty="0">
              <a:latin typeface="Times New Roman"/>
              <a:ea typeface="Times New Roman"/>
              <a:cs typeface="Times New Roman"/>
              <a:sym typeface="Times New Roman"/>
            </a:endParaRPr>
          </a:p>
          <a:p>
            <a:pPr marL="457200" lvl="0" indent="-342900" algn="l" rtl="0">
              <a:spcBef>
                <a:spcPts val="1000"/>
              </a:spcBef>
              <a:spcAft>
                <a:spcPts val="0"/>
              </a:spcAft>
              <a:buSzPts val="1800"/>
              <a:buFont typeface="Times New Roman"/>
              <a:buChar char="●"/>
            </a:pPr>
            <a:r>
              <a:rPr lang="en-US" dirty="0">
                <a:latin typeface="Times New Roman"/>
                <a:ea typeface="Times New Roman"/>
                <a:cs typeface="Times New Roman"/>
                <a:sym typeface="Times New Roman"/>
              </a:rPr>
              <a:t>Founded in 1994.</a:t>
            </a:r>
            <a:endParaRPr dirty="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dirty="0">
                <a:latin typeface="Times New Roman"/>
                <a:ea typeface="Times New Roman"/>
                <a:cs typeface="Times New Roman"/>
                <a:sym typeface="Times New Roman"/>
              </a:rPr>
              <a:t>Headquarters located in </a:t>
            </a:r>
            <a:r>
              <a:rPr lang="en-US" dirty="0" err="1">
                <a:latin typeface="Times New Roman"/>
                <a:ea typeface="Times New Roman"/>
                <a:cs typeface="Times New Roman"/>
                <a:sym typeface="Times New Roman"/>
              </a:rPr>
              <a:t>Teanack</a:t>
            </a:r>
            <a:r>
              <a:rPr lang="en-US" dirty="0">
                <a:latin typeface="Times New Roman"/>
                <a:ea typeface="Times New Roman"/>
                <a:cs typeface="Times New Roman"/>
                <a:sym typeface="Times New Roman"/>
              </a:rPr>
              <a:t>, New Jersey, USA</a:t>
            </a:r>
            <a:endParaRPr dirty="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dirty="0">
                <a:latin typeface="Times New Roman"/>
                <a:ea typeface="Times New Roman"/>
                <a:cs typeface="Times New Roman"/>
                <a:sym typeface="Times New Roman"/>
              </a:rPr>
              <a:t>Operates in more than 35 countries worldwide</a:t>
            </a:r>
            <a:endParaRPr dirty="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dirty="0">
                <a:latin typeface="Times New Roman"/>
                <a:ea typeface="Times New Roman"/>
                <a:cs typeface="Times New Roman"/>
                <a:sym typeface="Times New Roman"/>
              </a:rPr>
              <a:t>Workforce of over 350,000 employees</a:t>
            </a:r>
            <a:endParaRPr dirty="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dirty="0">
                <a:latin typeface="Times New Roman"/>
                <a:ea typeface="Times New Roman"/>
                <a:cs typeface="Times New Roman"/>
                <a:sym typeface="Times New Roman"/>
              </a:rPr>
              <a:t>Recognized among the top global IT service providers</a:t>
            </a:r>
            <a:endParaRPr dirty="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dirty="0">
                <a:latin typeface="Times New Roman"/>
                <a:ea typeface="Times New Roman"/>
                <a:cs typeface="Times New Roman"/>
                <a:sym typeface="Times New Roman"/>
              </a:rPr>
              <a:t>Strong presence in Europe, North America, and Asia</a:t>
            </a:r>
            <a:endParaRPr dirty="0">
              <a:latin typeface="Times New Roman"/>
              <a:ea typeface="Times New Roman"/>
              <a:cs typeface="Times New Roman"/>
              <a:sym typeface="Times New Roman"/>
            </a:endParaRPr>
          </a:p>
          <a:p>
            <a:pPr marL="0" lvl="0" indent="0" algn="l" rtl="0">
              <a:spcBef>
                <a:spcPts val="1000"/>
              </a:spcBef>
              <a:spcAft>
                <a:spcPts val="0"/>
              </a:spcAft>
              <a:buNone/>
            </a:pPr>
            <a:endParaRPr dirty="0">
              <a:latin typeface="Times New Roman"/>
              <a:ea typeface="Times New Roman"/>
              <a:cs typeface="Times New Roman"/>
              <a:sym typeface="Times New Roman"/>
            </a:endParaRPr>
          </a:p>
        </p:txBody>
      </p:sp>
      <p:sp>
        <p:nvSpPr>
          <p:cNvPr id="126" name="Google Shape;126;g3d4828c7398_0_1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d4828c7398_0_2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Company</a:t>
            </a:r>
            <a:endParaRPr/>
          </a:p>
        </p:txBody>
      </p:sp>
      <p:sp>
        <p:nvSpPr>
          <p:cNvPr id="133" name="Google Shape;133;g3d4828c7398_0_2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b="1" dirty="0"/>
              <a:t>About Company:</a:t>
            </a:r>
            <a:endParaRPr b="1" dirty="0"/>
          </a:p>
          <a:p>
            <a:pPr marL="0" lvl="0" indent="0" algn="l" rtl="0">
              <a:spcBef>
                <a:spcPts val="1000"/>
              </a:spcBef>
              <a:spcAft>
                <a:spcPts val="0"/>
              </a:spcAft>
              <a:buNone/>
            </a:pPr>
            <a:r>
              <a:rPr lang="en-US" dirty="0">
                <a:latin typeface="Times New Roman"/>
                <a:ea typeface="Times New Roman"/>
                <a:cs typeface="Times New Roman"/>
                <a:sym typeface="Times New Roman"/>
              </a:rPr>
              <a:t>Cognizant provides end-to-end business and technology solutions to its clients. The company focuses on combining deep industry knowledge with advanced technologies to solve complex business problems. It works closely with organizations to design, develop, and implement scalable and efficient systems.</a:t>
            </a:r>
            <a:endParaRPr dirty="0">
              <a:latin typeface="Times New Roman"/>
              <a:ea typeface="Times New Roman"/>
              <a:cs typeface="Times New Roman"/>
              <a:sym typeface="Times New Roman"/>
            </a:endParaRPr>
          </a:p>
        </p:txBody>
      </p:sp>
      <p:sp>
        <p:nvSpPr>
          <p:cNvPr id="134" name="Google Shape;134;g3d4828c7398_0_2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dd4f8bfebc_0_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Introduction to Company</a:t>
            </a:r>
            <a:endParaRPr dirty="0"/>
          </a:p>
        </p:txBody>
      </p:sp>
      <p:sp>
        <p:nvSpPr>
          <p:cNvPr id="141" name="Google Shape;141;g3dd4f8bfebc_0_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70000" lnSpcReduction="20000"/>
          </a:bodyPr>
          <a:lstStyle/>
          <a:p>
            <a:pPr marL="0" lvl="0" indent="0" algn="just" rtl="0">
              <a:lnSpc>
                <a:spcPct val="115000"/>
              </a:lnSpc>
              <a:spcBef>
                <a:spcPts val="1200"/>
              </a:spcBef>
              <a:spcAft>
                <a:spcPts val="0"/>
              </a:spcAft>
              <a:buNone/>
            </a:pPr>
            <a:r>
              <a:rPr lang="en-US" b="1" dirty="0">
                <a:latin typeface="Times New Roman"/>
                <a:ea typeface="Times New Roman"/>
                <a:cs typeface="Times New Roman"/>
                <a:sym typeface="Times New Roman"/>
              </a:rPr>
              <a:t>Mission:</a:t>
            </a:r>
            <a:endParaRPr b="1"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6066"/>
              <a:buFont typeface="Arial"/>
              <a:buNone/>
            </a:pPr>
            <a:r>
              <a:rPr lang="en-US" sz="3050" dirty="0">
                <a:latin typeface="Times New Roman"/>
                <a:ea typeface="Times New Roman"/>
                <a:cs typeface="Times New Roman"/>
                <a:sym typeface="Times New Roman"/>
              </a:rPr>
              <a:t>The mission of Cognizant is to support organizations in transforming and adapting to the rapidly evolving digital landscape by leveraging advanced and cutting-edge technologies. The company focuses on delivering innovative and value-driven solutions that not only improve operational efficiency but also enhance overall productivity and business performance.</a:t>
            </a:r>
            <a:endParaRPr sz="3050"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6066"/>
              <a:buFont typeface="Arial"/>
              <a:buNone/>
            </a:pPr>
            <a:r>
              <a:rPr lang="en-US" sz="3050" dirty="0">
                <a:latin typeface="Times New Roman"/>
                <a:ea typeface="Times New Roman"/>
                <a:cs typeface="Times New Roman"/>
                <a:sym typeface="Times New Roman"/>
              </a:rPr>
              <a:t>Cognizant aims to help clients achieve their strategic goals by providing scalable, reliable, and technology-driven services. In addition, the organization emphasizes maintaining high ethical standards, ensuring transparency, trust, and long-term relationships with its clients. Customer satisfaction remains a key priority, and all solutions are designed to meet the specific needs of businesses across various industries.</a:t>
            </a:r>
            <a:endParaRPr sz="3050"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142" name="Google Shape;142;g3dd4f8bfebc_0_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dd4f8bfebc_0_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Company</a:t>
            </a:r>
            <a:endParaRPr/>
          </a:p>
        </p:txBody>
      </p:sp>
      <p:sp>
        <p:nvSpPr>
          <p:cNvPr id="149" name="Google Shape;149;g3dd4f8bfebc_0_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b="1"/>
              <a:t>Vision :</a:t>
            </a:r>
            <a:endParaRPr b="1"/>
          </a:p>
          <a:p>
            <a:pPr marL="0" lvl="0" indent="0" algn="l" rtl="0">
              <a:spcBef>
                <a:spcPts val="1000"/>
              </a:spcBef>
              <a:spcAft>
                <a:spcPts val="0"/>
              </a:spcAft>
              <a:buNone/>
            </a:pPr>
            <a:endParaRPr/>
          </a:p>
          <a:p>
            <a:pPr marL="457200" lvl="0" indent="-342900" algn="l" rtl="0">
              <a:spcBef>
                <a:spcPts val="1000"/>
              </a:spcBef>
              <a:spcAft>
                <a:spcPts val="0"/>
              </a:spcAft>
              <a:buSzPts val="1800"/>
              <a:buFont typeface="Times New Roman"/>
              <a:buChar char="●"/>
            </a:pPr>
            <a:r>
              <a:rPr lang="en-US">
                <a:latin typeface="Times New Roman"/>
                <a:ea typeface="Times New Roman"/>
                <a:cs typeface="Times New Roman"/>
                <a:sym typeface="Times New Roman"/>
              </a:rPr>
              <a:t>To be a global leader in digital transformation and innovation</a:t>
            </a:r>
            <a:endParaRPr>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a:latin typeface="Times New Roman"/>
                <a:ea typeface="Times New Roman"/>
                <a:cs typeface="Times New Roman"/>
                <a:sym typeface="Times New Roman"/>
              </a:rPr>
              <a:t>To create sustainable and inclusive growth through technology</a:t>
            </a:r>
            <a:endParaRPr>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a:latin typeface="Times New Roman"/>
                <a:ea typeface="Times New Roman"/>
                <a:cs typeface="Times New Roman"/>
                <a:sym typeface="Times New Roman"/>
              </a:rPr>
              <a:t>To build long-term relationships with clients</a:t>
            </a:r>
            <a:endParaRPr>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a:latin typeface="Times New Roman"/>
                <a:ea typeface="Times New Roman"/>
                <a:cs typeface="Times New Roman"/>
                <a:sym typeface="Times New Roman"/>
              </a:rPr>
              <a:t>To continuously evolve with changing technological trends</a:t>
            </a:r>
            <a:endParaRPr>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a:latin typeface="Times New Roman"/>
                <a:ea typeface="Times New Roman"/>
                <a:cs typeface="Times New Roman"/>
                <a:sym typeface="Times New Roman"/>
              </a:rPr>
              <a:t>To promote diversity, collaboration, and creativity</a:t>
            </a:r>
            <a:endParaRPr>
              <a:latin typeface="Times New Roman"/>
              <a:ea typeface="Times New Roman"/>
              <a:cs typeface="Times New Roman"/>
              <a:sym typeface="Times New Roman"/>
            </a:endParaRPr>
          </a:p>
          <a:p>
            <a:pPr marL="0" lvl="0" indent="0" algn="l" rtl="0">
              <a:spcBef>
                <a:spcPts val="1000"/>
              </a:spcBef>
              <a:spcAft>
                <a:spcPts val="0"/>
              </a:spcAft>
              <a:buNone/>
            </a:pPr>
            <a:endParaRPr/>
          </a:p>
        </p:txBody>
      </p:sp>
      <p:sp>
        <p:nvSpPr>
          <p:cNvPr id="150" name="Google Shape;150;g3dd4f8bfebc_0_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dd4f8bfebc_0_1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Company</a:t>
            </a:r>
            <a:endParaRPr/>
          </a:p>
        </p:txBody>
      </p:sp>
      <p:sp>
        <p:nvSpPr>
          <p:cNvPr id="157" name="Google Shape;157;g3dd4f8bfebc_0_1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l" rtl="0">
              <a:lnSpc>
                <a:spcPct val="115000"/>
              </a:lnSpc>
              <a:spcBef>
                <a:spcPts val="1200"/>
              </a:spcBef>
              <a:spcAft>
                <a:spcPts val="0"/>
              </a:spcAft>
              <a:buNone/>
            </a:pPr>
            <a:r>
              <a:rPr lang="en-US" b="1" dirty="0">
                <a:latin typeface="Times New Roman"/>
                <a:ea typeface="Times New Roman"/>
                <a:cs typeface="Times New Roman"/>
                <a:sym typeface="Times New Roman"/>
              </a:rPr>
              <a:t>Services Offered:</a:t>
            </a:r>
            <a:endParaRPr b="1"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Cognizant offers a comprehensive range of services that support businesses at every stage of their digital journey:</a:t>
            </a:r>
            <a:endParaRPr dirty="0">
              <a:latin typeface="Times New Roman"/>
              <a:ea typeface="Times New Roman"/>
              <a:cs typeface="Times New Roman"/>
              <a:sym typeface="Times New Roman"/>
            </a:endParaRPr>
          </a:p>
          <a:p>
            <a:pPr marL="457200" lvl="0" indent="-293211" algn="l" rtl="0">
              <a:lnSpc>
                <a:spcPct val="115000"/>
              </a:lnSpc>
              <a:spcBef>
                <a:spcPts val="1200"/>
              </a:spcBef>
              <a:spcAft>
                <a:spcPts val="0"/>
              </a:spcAft>
              <a:buSzPct val="39286"/>
              <a:buFont typeface="Times New Roman"/>
              <a:buChar char="●"/>
            </a:pPr>
            <a:r>
              <a:rPr lang="en-US" dirty="0">
                <a:latin typeface="Times New Roman"/>
                <a:ea typeface="Times New Roman"/>
                <a:cs typeface="Times New Roman"/>
                <a:sym typeface="Times New Roman"/>
              </a:rPr>
              <a:t>Business and Technology Consulting</a:t>
            </a:r>
            <a:endParaRPr dirty="0">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Application Development and Maintenance</a:t>
            </a:r>
            <a:endParaRPr dirty="0">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Cloud and Infrastructure Services</a:t>
            </a:r>
            <a:endParaRPr dirty="0">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Artificial Intelligence and Data Analytics</a:t>
            </a:r>
            <a:endParaRPr dirty="0">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Cybersecurity Solutions</a:t>
            </a:r>
            <a:endParaRPr dirty="0">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Engineering and R&amp;D Services</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158" name="Google Shape;158;g3dd4f8bfebc_0_1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dd4f8bfebc_0_2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Company</a:t>
            </a:r>
            <a:endParaRPr/>
          </a:p>
        </p:txBody>
      </p:sp>
      <p:sp>
        <p:nvSpPr>
          <p:cNvPr id="165" name="Google Shape;165;g3dd4f8bfebc_0_2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Cognizant invests heavily in modern technologies to stay ahead in the competitive IT industry. These technologies help organizations innovate and scale efficiently.</a:t>
            </a:r>
            <a:endParaRPr dirty="0">
              <a:latin typeface="Times New Roman"/>
              <a:ea typeface="Times New Roman"/>
              <a:cs typeface="Times New Roman"/>
              <a:sym typeface="Times New Roman"/>
            </a:endParaRPr>
          </a:p>
          <a:p>
            <a:pPr marL="457200" lvl="0" indent="-298450" algn="l" rtl="0">
              <a:lnSpc>
                <a:spcPct val="115000"/>
              </a:lnSpc>
              <a:spcBef>
                <a:spcPts val="1200"/>
              </a:spcBef>
              <a:spcAft>
                <a:spcPts val="0"/>
              </a:spcAft>
              <a:buSzPts val="1100"/>
              <a:buFont typeface="Times New Roman"/>
              <a:buChar char="●"/>
            </a:pPr>
            <a:r>
              <a:rPr lang="en-US" dirty="0">
                <a:latin typeface="Times New Roman"/>
                <a:ea typeface="Times New Roman"/>
                <a:cs typeface="Times New Roman"/>
                <a:sym typeface="Times New Roman"/>
              </a:rPr>
              <a:t>Cloud platforms like Microsoft Azure, AWS, Google Cloud</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Artificial Intelligence and Machine Learning</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Big Data and Advanced Analytics</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Internet of Things (IoT)</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Cybersecurity and Risk Management</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166" name="Google Shape;166;g3dd4f8bfebc_0_2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3dd4f8bfebc_0_3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Company</a:t>
            </a:r>
            <a:endParaRPr/>
          </a:p>
        </p:txBody>
      </p:sp>
      <p:sp>
        <p:nvSpPr>
          <p:cNvPr id="173" name="Google Shape;173;g3dd4f8bfebc_0_3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85000" lnSpcReduction="20000"/>
          </a:bodyPr>
          <a:lstStyle/>
          <a:p>
            <a:pPr marL="0" lvl="0" indent="0" algn="l" rtl="0">
              <a:lnSpc>
                <a:spcPct val="115000"/>
              </a:lnSpc>
              <a:spcBef>
                <a:spcPts val="1200"/>
              </a:spcBef>
              <a:spcAft>
                <a:spcPts val="0"/>
              </a:spcAft>
              <a:buNone/>
            </a:pPr>
            <a:r>
              <a:rPr lang="en-US" b="1" dirty="0">
                <a:latin typeface="Times New Roman"/>
                <a:ea typeface="Times New Roman"/>
                <a:cs typeface="Times New Roman"/>
                <a:sym typeface="Times New Roman"/>
              </a:rPr>
              <a:t>Global Presence:</a:t>
            </a:r>
            <a:endParaRPr b="1"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Cognizant has a strong global presence with operations across multiple continents, including Europe, North America, and Asia-Pacific. This wide reach enables the company to serve clients efficiently across different regions.</a:t>
            </a:r>
            <a:endParaRPr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It works with a diverse range of clients, from startups to large multinational enterprises, providing customized and scalable technology solutions based on their needs.</a:t>
            </a:r>
            <a:endParaRPr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India plays a key role as a major delivery and innovation center, contributing significantly to global projects through skilled professionals and advanced technological capabilities.</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174" name="Google Shape;174;g3dd4f8bfebc_0_3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dd4f8bfebc_0_4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Company</a:t>
            </a:r>
            <a:endParaRPr/>
          </a:p>
        </p:txBody>
      </p:sp>
      <p:sp>
        <p:nvSpPr>
          <p:cNvPr id="181" name="Google Shape;181;g3dd4f8bfebc_0_4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l"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Cognizant provides an excellent platform for freshers and professionals to grow in their careers. The company focuses on continuous learning and development through structured training programs like Ocean .NET Core.</a:t>
            </a:r>
            <a:endParaRPr dirty="0">
              <a:latin typeface="Times New Roman"/>
              <a:ea typeface="Times New Roman"/>
              <a:cs typeface="Times New Roman"/>
              <a:sym typeface="Times New Roman"/>
            </a:endParaRPr>
          </a:p>
          <a:p>
            <a:pPr marL="457200" lvl="0" indent="-298450" algn="l" rtl="0">
              <a:lnSpc>
                <a:spcPct val="115000"/>
              </a:lnSpc>
              <a:spcBef>
                <a:spcPts val="1200"/>
              </a:spcBef>
              <a:spcAft>
                <a:spcPts val="0"/>
              </a:spcAft>
              <a:buSzPts val="1100"/>
              <a:buFont typeface="Times New Roman"/>
              <a:buChar char="●"/>
            </a:pPr>
            <a:r>
              <a:rPr lang="en-US" dirty="0">
                <a:latin typeface="Times New Roman"/>
                <a:ea typeface="Times New Roman"/>
                <a:cs typeface="Times New Roman"/>
                <a:sym typeface="Times New Roman"/>
              </a:rPr>
              <a:t>Exposure to real-world industry projects</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Strong mentorship and guidance</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Opportunities to work with latest technologies</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Collaborative and inclusive work culture</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Clear career growth path</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182" name="Google Shape;182;g3dd4f8bfebc_0_4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3dd4f8bfebc_0_4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Job Profile</a:t>
            </a:r>
            <a:endParaRPr/>
          </a:p>
        </p:txBody>
      </p:sp>
      <p:sp>
        <p:nvSpPr>
          <p:cNvPr id="189" name="Google Shape;189;g3dd4f8bfebc_0_4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dirty="0">
                <a:latin typeface="Times New Roman"/>
                <a:ea typeface="Times New Roman"/>
                <a:cs typeface="Times New Roman"/>
                <a:sym typeface="Times New Roman"/>
              </a:rPr>
              <a:t>I have been assigned the role of an Software Developer Engineer in Test(SDET).The role of an SDET at Cognizant is an entry-level position focused on understanding business requirements and supporting the development of technology-based solutions, developing and testing the products. It acts as a bridge between business needs and technical implementation &amp; testing , helping in delivering efficient and scalable solutions.</a:t>
            </a:r>
            <a:endParaRPr dirty="0">
              <a:latin typeface="Times New Roman"/>
              <a:ea typeface="Times New Roman"/>
              <a:cs typeface="Times New Roman"/>
              <a:sym typeface="Times New Roman"/>
            </a:endParaRPr>
          </a:p>
        </p:txBody>
      </p:sp>
      <p:sp>
        <p:nvSpPr>
          <p:cNvPr id="190" name="Google Shape;190;g3dd4f8bfebc_0_4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dd4f8bfebc_0_5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Job Profile</a:t>
            </a:r>
            <a:endParaRPr/>
          </a:p>
        </p:txBody>
      </p:sp>
      <p:sp>
        <p:nvSpPr>
          <p:cNvPr id="197" name="Google Shape;197;g3dd4f8bfebc_0_5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r>
              <a:rPr lang="en-US" b="1" dirty="0"/>
              <a:t>Defining the Role:</a:t>
            </a:r>
            <a:r>
              <a:rPr lang="en-US" dirty="0"/>
              <a:t> An SDET is a developer who focuses on testability, robustness, and performance.</a:t>
            </a:r>
          </a:p>
          <a:p>
            <a:r>
              <a:rPr lang="en-US" b="1" dirty="0"/>
              <a:t>Primary Objective:</a:t>
            </a:r>
            <a:r>
              <a:rPr lang="en-US" dirty="0"/>
              <a:t> To build automated frameworks that ensure code quality without manual intervention.</a:t>
            </a:r>
          </a:p>
          <a:p>
            <a:r>
              <a:rPr lang="en-US" b="1" dirty="0"/>
              <a:t>The Shift-Left Approach:</a:t>
            </a:r>
            <a:r>
              <a:rPr lang="en-US" dirty="0"/>
              <a:t> Integrating testing at the earliest stages of the SDLC (Software Development Life Cycle) to identify bugs before they reach production.</a:t>
            </a:r>
          </a:p>
          <a:p>
            <a:r>
              <a:rPr lang="en-US" b="1" dirty="0"/>
              <a:t>Core Responsibility:</a:t>
            </a:r>
            <a:r>
              <a:rPr lang="en-US" dirty="0"/>
              <a:t> Developing, maintaining, and executing automated test scripts that mimic real-world user behavior.</a:t>
            </a:r>
          </a:p>
          <a:p>
            <a:pPr marL="0" lvl="0" indent="0" algn="l" rtl="0">
              <a:spcBef>
                <a:spcPts val="1200"/>
              </a:spcBef>
              <a:spcAft>
                <a:spcPts val="0"/>
              </a:spcAft>
              <a:buNone/>
            </a:pPr>
            <a:endParaRPr dirty="0"/>
          </a:p>
        </p:txBody>
      </p:sp>
      <p:sp>
        <p:nvSpPr>
          <p:cNvPr id="198" name="Google Shape;198;g3dd4f8bfebc_0_5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dd4f8bfebc_0_6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Introduction to Job Profile</a:t>
            </a:r>
            <a:endParaRPr/>
          </a:p>
        </p:txBody>
      </p:sp>
      <p:sp>
        <p:nvSpPr>
          <p:cNvPr id="205" name="Google Shape;205;g3dd4f8bfebc_0_6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r>
              <a:rPr lang="en-IN" dirty="0"/>
              <a:t>Programming Languages: Mastery of Java (JDK 17/21) for building scalable automation logic.</a:t>
            </a:r>
          </a:p>
          <a:p>
            <a:r>
              <a:rPr lang="en-IN" dirty="0"/>
              <a:t>Data Structures &amp; Algorithms: Utilizing collections (Lists, Maps, Sets) to manage test data efficiently.</a:t>
            </a:r>
          </a:p>
          <a:p>
            <a:r>
              <a:rPr lang="en-IN" dirty="0"/>
              <a:t>Object-Oriented Programming (OOPs): Applying Encapsulation, Inheritance, and Polymorphism to create reusable automation components.</a:t>
            </a:r>
          </a:p>
          <a:p>
            <a:r>
              <a:rPr lang="en-IN" dirty="0"/>
              <a:t>Exception Handling: Designing custom handlers to ensure test suites don’t crash during execution.</a:t>
            </a:r>
          </a:p>
          <a:p>
            <a:pPr marL="0" lvl="0" indent="0" algn="l" rtl="0">
              <a:spcBef>
                <a:spcPts val="1000"/>
              </a:spcBef>
              <a:spcAft>
                <a:spcPts val="0"/>
              </a:spcAft>
              <a:buNone/>
            </a:pPr>
            <a:endParaRPr b="1" dirty="0"/>
          </a:p>
        </p:txBody>
      </p:sp>
      <p:sp>
        <p:nvSpPr>
          <p:cNvPr id="206" name="Google Shape;206;g3dd4f8bfebc_0_6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3dd4f8bfebc_0_7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Introduction to Job Profile</a:t>
            </a:r>
            <a:endParaRPr/>
          </a:p>
        </p:txBody>
      </p:sp>
      <p:sp>
        <p:nvSpPr>
          <p:cNvPr id="213" name="Google Shape;213;g3dd4f8bfebc_0_7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r>
              <a:rPr lang="en-IN" dirty="0"/>
              <a:t>Selenium WebDriver: Deep dive into browser automation, handling dynamic elements using advanced XPath and CSS Selectors.</a:t>
            </a:r>
          </a:p>
          <a:p>
            <a:r>
              <a:rPr lang="en-IN" dirty="0"/>
              <a:t>Wait Mechanisms: Implementing Implicit, Explicit, and Fluent Waits to manage asynchronous web loading.</a:t>
            </a:r>
          </a:p>
          <a:p>
            <a:r>
              <a:rPr lang="en-IN" dirty="0"/>
              <a:t>JavaScript Executor: Using JS injections for complex actions like scrolling or clicking hidden elements.</a:t>
            </a:r>
          </a:p>
          <a:p>
            <a:r>
              <a:rPr lang="en-IN" dirty="0"/>
              <a:t>Action Class: Handling mouse hovers, drag-and-drop, and keyboard events for the Saviour application.</a:t>
            </a:r>
          </a:p>
          <a:p>
            <a:pPr marL="0" lvl="0" indent="0" algn="l" rtl="0">
              <a:spcBef>
                <a:spcPts val="1000"/>
              </a:spcBef>
              <a:spcAft>
                <a:spcPts val="0"/>
              </a:spcAft>
              <a:buNone/>
            </a:pPr>
            <a:endParaRPr b="1" dirty="0"/>
          </a:p>
        </p:txBody>
      </p:sp>
      <p:sp>
        <p:nvSpPr>
          <p:cNvPr id="214" name="Google Shape;214;g3dd4f8bfebc_0_7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3dd4f8bfebc_0_8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Introduction to Job Profile</a:t>
            </a:r>
            <a:endParaRPr/>
          </a:p>
        </p:txBody>
      </p:sp>
      <p:sp>
        <p:nvSpPr>
          <p:cNvPr id="221" name="Google Shape;221;g3dd4f8bfebc_0_8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r>
              <a:rPr lang="en-US" dirty="0"/>
              <a:t>POM Design Pattern: Separating the UI repository (Locators) from the Test Logic (Methods).</a:t>
            </a:r>
          </a:p>
          <a:p>
            <a:r>
              <a:rPr lang="en-US" dirty="0"/>
              <a:t>Maintenance: How POM reduces script maintenance effort by 40% when the UI of the Saviour app changes.</a:t>
            </a:r>
          </a:p>
          <a:p>
            <a:r>
              <a:rPr lang="en-US" dirty="0"/>
              <a:t>Page Factory: Utilizing @FindBy annotations for lazy initialization of web elements.</a:t>
            </a:r>
          </a:p>
          <a:p>
            <a:r>
              <a:rPr lang="en-US" dirty="0"/>
              <a:t>Abstraction: Creating a base layer that handles driver initialization and teardown.</a:t>
            </a:r>
          </a:p>
          <a:p>
            <a:pPr marL="0" lvl="0" indent="0" algn="l" rtl="0">
              <a:spcBef>
                <a:spcPts val="1200"/>
              </a:spcBef>
              <a:spcAft>
                <a:spcPts val="0"/>
              </a:spcAft>
              <a:buNone/>
            </a:pPr>
            <a:endParaRPr dirty="0"/>
          </a:p>
        </p:txBody>
      </p:sp>
      <p:sp>
        <p:nvSpPr>
          <p:cNvPr id="222" name="Google Shape;222;g3dd4f8bfebc_0_8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3dd4f8bfebc_0_8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Introduction to Job Profile</a:t>
            </a:r>
            <a:endParaRPr/>
          </a:p>
        </p:txBody>
      </p:sp>
      <p:sp>
        <p:nvSpPr>
          <p:cNvPr id="229" name="Google Shape;229;g3dd4f8bfebc_0_8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r>
              <a:rPr lang="en-US" dirty="0"/>
              <a:t>REST-Assured: Validating the RESTful APIs that power the Saviour alert system.</a:t>
            </a:r>
          </a:p>
          <a:p>
            <a:r>
              <a:rPr lang="en-US" dirty="0"/>
              <a:t>Request/Response Validation: Verifying Status Codes (200, 201, 404), JSON Body structures, and Headers.</a:t>
            </a:r>
          </a:p>
          <a:p>
            <a:r>
              <a:rPr lang="en-US" dirty="0"/>
              <a:t>Serialization &amp; Deserialization: Using Jackson/</a:t>
            </a:r>
            <a:r>
              <a:rPr lang="en-US" dirty="0" err="1"/>
              <a:t>Gson</a:t>
            </a:r>
            <a:r>
              <a:rPr lang="en-US" dirty="0"/>
              <a:t> libraries to convert Java objects to JSON and vice-versa.</a:t>
            </a:r>
          </a:p>
          <a:p>
            <a:r>
              <a:rPr lang="en-US" dirty="0"/>
              <a:t>Mocking: Understanding how to mock external alert services to test the system's resilience.</a:t>
            </a:r>
          </a:p>
          <a:p>
            <a:pPr marL="0" lvl="0" indent="0" algn="l" rtl="0">
              <a:spcBef>
                <a:spcPts val="1200"/>
              </a:spcBef>
              <a:spcAft>
                <a:spcPts val="0"/>
              </a:spcAft>
              <a:buNone/>
            </a:pPr>
            <a:endParaRPr dirty="0"/>
          </a:p>
        </p:txBody>
      </p:sp>
      <p:sp>
        <p:nvSpPr>
          <p:cNvPr id="230" name="Google Shape;230;g3dd4f8bfebc_0_8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dd4f8bfebc_0_9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Introduction to Job Profile</a:t>
            </a:r>
            <a:endParaRPr/>
          </a:p>
        </p:txBody>
      </p:sp>
      <p:sp>
        <p:nvSpPr>
          <p:cNvPr id="237" name="Google Shape;237;g3dd4f8bfebc_0_9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r>
              <a:rPr lang="en-US" dirty="0"/>
              <a:t>TestNG Framework: Using annotations (@Test, @BeforeMethod, @DataProvider) for structured execution.</a:t>
            </a:r>
          </a:p>
          <a:p>
            <a:r>
              <a:rPr lang="en-US" dirty="0"/>
              <a:t>Parallel Execution: Configuring testng.xml to run tests across multiple browsers simultaneously to save time.</a:t>
            </a:r>
          </a:p>
          <a:p>
            <a:r>
              <a:rPr lang="en-US" dirty="0"/>
              <a:t>Extent Reports / Allure: Generating interactive, graphical HTML reports for stakeholders.</a:t>
            </a:r>
          </a:p>
          <a:p>
            <a:r>
              <a:rPr lang="en-US" dirty="0"/>
              <a:t>Logging: Implementing Log4j to track every step of the automation execution for easier debugging.</a:t>
            </a:r>
          </a:p>
          <a:p>
            <a:pPr marL="0" lvl="0" indent="0" algn="l" rtl="0">
              <a:spcBef>
                <a:spcPts val="1200"/>
              </a:spcBef>
              <a:spcAft>
                <a:spcPts val="0"/>
              </a:spcAft>
              <a:buNone/>
            </a:pPr>
            <a:endParaRPr dirty="0"/>
          </a:p>
        </p:txBody>
      </p:sp>
      <p:sp>
        <p:nvSpPr>
          <p:cNvPr id="238" name="Google Shape;238;g3dd4f8bfebc_0_9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dd4f8bfebc_0_10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Introduction to Job Profile</a:t>
            </a:r>
            <a:endParaRPr/>
          </a:p>
        </p:txBody>
      </p:sp>
      <p:sp>
        <p:nvSpPr>
          <p:cNvPr id="245" name="Google Shape;245;g3dd4f8bfebc_0_10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r>
              <a:rPr lang="en-US" dirty="0"/>
              <a:t>Version Control: Using Git for branching, merging, and maintaining the automation codebase.</a:t>
            </a:r>
          </a:p>
          <a:p>
            <a:r>
              <a:rPr lang="en-US" dirty="0"/>
              <a:t>Build Tools: Using Maven for dependency management and project build life cycles.</a:t>
            </a:r>
          </a:p>
          <a:p>
            <a:r>
              <a:rPr lang="en-US" dirty="0"/>
              <a:t>Jenkins Pipeline: Integrating the test suite into the CI/CD pipeline so tests trigger automatically on every code push.</a:t>
            </a:r>
          </a:p>
          <a:p>
            <a:r>
              <a:rPr lang="en-US" dirty="0"/>
              <a:t>Containerization: Understanding how Docker is used to create consistent test environments.</a:t>
            </a:r>
          </a:p>
          <a:p>
            <a:pPr marL="0" lvl="0" indent="0" algn="l" rtl="0">
              <a:spcBef>
                <a:spcPts val="1200"/>
              </a:spcBef>
              <a:spcAft>
                <a:spcPts val="0"/>
              </a:spcAft>
              <a:buNone/>
            </a:pPr>
            <a:endParaRPr dirty="0"/>
          </a:p>
        </p:txBody>
      </p:sp>
      <p:sp>
        <p:nvSpPr>
          <p:cNvPr id="246" name="Google Shape;246;g3dd4f8bfebc_0_10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dd4f8bfebc_0_11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Project</a:t>
            </a:r>
            <a:endParaRPr/>
          </a:p>
        </p:txBody>
      </p:sp>
      <p:sp>
        <p:nvSpPr>
          <p:cNvPr id="253" name="Google Shape;253;g3dd4f8bfebc_0_11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just" rtl="0">
              <a:lnSpc>
                <a:spcPct val="115000"/>
              </a:lnSpc>
              <a:spcBef>
                <a:spcPts val="1200"/>
              </a:spcBef>
              <a:spcAft>
                <a:spcPts val="0"/>
              </a:spcAft>
              <a:buClr>
                <a:schemeClr val="dk1"/>
              </a:buClr>
              <a:buSzPct val="39286"/>
              <a:buFont typeface="Arial"/>
              <a:buNone/>
            </a:pPr>
            <a:r>
              <a:rPr lang="en-US">
                <a:latin typeface="Times New Roman"/>
                <a:ea typeface="Times New Roman"/>
                <a:cs typeface="Times New Roman"/>
                <a:sym typeface="Times New Roman"/>
              </a:rPr>
              <a:t>During the internship, instead of working on a single standalone project, I was involved in a structured learning-based implementation approach designed to build strong technical foundations. This approach emphasized continuous learning through guided sessions and practical development tasks.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a:latin typeface="Times New Roman"/>
                <a:ea typeface="Times New Roman"/>
                <a:cs typeface="Times New Roman"/>
                <a:sym typeface="Times New Roman"/>
              </a:rPr>
              <a:t>Rather than focusing on one project, the training included multiple hands-on activities and problem-solving exercises. These tasks helped in applying concepts in real-time, improving understanding, and developing the ability to implement solutions in a practical environment.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254" name="Google Shape;254;g3dd4f8bfebc_0_11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dd4f8bfebc_0_12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Project</a:t>
            </a:r>
            <a:endParaRPr/>
          </a:p>
        </p:txBody>
      </p:sp>
      <p:sp>
        <p:nvSpPr>
          <p:cNvPr id="261" name="Google Shape;261;g3dd4f8bfebc_0_12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project followed a modular approach in which each topic or concept was treated as an individual component. This allowed focused learning and better understanding of each technology separately.</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As the training progressed, these individual components were connected to form a complete application development process. This approach helped in understanding how different technologies integrate and work together in building real-world applications.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262" name="Google Shape;262;g3dd4f8bfebc_0_12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dd4f8bfebc_0_12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Project</a:t>
            </a:r>
            <a:endParaRPr/>
          </a:p>
        </p:txBody>
      </p:sp>
      <p:sp>
        <p:nvSpPr>
          <p:cNvPr id="269" name="Google Shape;269;g3dd4f8bfebc_0_12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learning process was focused on implementing concepts immediately after understanding them, ensuring better retention and clarity. This approach reduced the gap between theory and practical application.</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Each module included hands-on coding tasks and exercises that allowed direct application of concepts in real scenarios. This helped in strengthening problem-solving skills and gaining confidence in developing functional solutions.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270" name="Google Shape;270;g3dd4f8bfebc_0_12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dd4f8bfebc_0_13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Project</a:t>
            </a:r>
            <a:endParaRPr/>
          </a:p>
        </p:txBody>
      </p:sp>
      <p:sp>
        <p:nvSpPr>
          <p:cNvPr id="277" name="Google Shape;277;g3dd4f8bfebc_0_13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77500" lnSpcReduction="20000"/>
          </a:bodyPr>
          <a:lstStyle/>
          <a:p>
            <a:pPr marL="0" lvl="0" indent="0" algn="just"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Instead of working on a single standalone project, multiple assignments were completed, each focusing on a specific technology or concept. These assignments helped in building a strong understanding of individual components of application development.</a:t>
            </a:r>
            <a:endParaRPr dirty="0">
              <a:latin typeface="Times New Roman"/>
              <a:ea typeface="Times New Roman"/>
              <a:cs typeface="Times New Roman"/>
              <a:sym typeface="Times New Roman"/>
            </a:endParaRPr>
          </a:p>
          <a:p>
            <a:pPr marL="457200" lvl="0" indent="-282734" algn="just" rtl="0">
              <a:lnSpc>
                <a:spcPct val="115000"/>
              </a:lnSpc>
              <a:spcBef>
                <a:spcPts val="1200"/>
              </a:spcBef>
              <a:spcAft>
                <a:spcPts val="0"/>
              </a:spcAft>
              <a:buSzPct val="39286"/>
              <a:buFont typeface="Times New Roman"/>
              <a:buChar char="●"/>
            </a:pPr>
            <a:r>
              <a:rPr lang="en-US" dirty="0">
                <a:latin typeface="Times New Roman"/>
                <a:ea typeface="Times New Roman"/>
                <a:cs typeface="Times New Roman"/>
                <a:sym typeface="Times New Roman"/>
              </a:rPr>
              <a:t>Backend logic using Java </a:t>
            </a:r>
            <a:r>
              <a:rPr lang="en-US" dirty="0" err="1">
                <a:latin typeface="Times New Roman"/>
                <a:ea typeface="Times New Roman"/>
                <a:cs typeface="Times New Roman"/>
                <a:sym typeface="Times New Roman"/>
              </a:rPr>
              <a:t>SpringBoot</a:t>
            </a:r>
            <a:endParaRPr dirty="0">
              <a:latin typeface="Times New Roman"/>
              <a:ea typeface="Times New Roman"/>
              <a:cs typeface="Times New Roman"/>
              <a:sym typeface="Times New Roman"/>
            </a:endParaRPr>
          </a:p>
          <a:p>
            <a:pPr marL="457200" lvl="0" indent="-282734" algn="just"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Database operations using SQL</a:t>
            </a:r>
            <a:endParaRPr dirty="0">
              <a:latin typeface="Times New Roman"/>
              <a:ea typeface="Times New Roman"/>
              <a:cs typeface="Times New Roman"/>
              <a:sym typeface="Times New Roman"/>
            </a:endParaRPr>
          </a:p>
          <a:p>
            <a:pPr marL="457200" lvl="0" indent="-282734" algn="just"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API creation and testing</a:t>
            </a:r>
            <a:endParaRPr dirty="0">
              <a:latin typeface="Times New Roman"/>
              <a:ea typeface="Times New Roman"/>
              <a:cs typeface="Times New Roman"/>
              <a:sym typeface="Times New Roman"/>
            </a:endParaRPr>
          </a:p>
          <a:p>
            <a:pPr marL="457200" lvl="0" indent="-282734" algn="just"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MVC-based structure implementation</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In addition to this, these individual components were also integrated to understand how different technologies work together in a complete application. This provided a holistic view of full-stack development and real-world project structure.</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278" name="Google Shape;278;g3dd4f8bfebc_0_13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dd4f8bfebc_0_14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Project</a:t>
            </a:r>
            <a:endParaRPr/>
          </a:p>
        </p:txBody>
      </p:sp>
      <p:sp>
        <p:nvSpPr>
          <p:cNvPr id="285" name="Google Shape;285;g3dd4f8bfebc_0_14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assignments were designed to simulate real-world development scenarios, giving practical exposure to how applications are built and managed in an industry environment. They focused on solving problems similar to those faced in actual projects.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Through these tasks, it became easier to understand how different technologies interact and integrate with each other to build scalable, efficient, and reliable applications.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286" name="Google Shape;286;g3dd4f8bfebc_0_14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dd4f8bfebc_0_15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Introduction to Project</a:t>
            </a:r>
            <a:endParaRPr/>
          </a:p>
        </p:txBody>
      </p:sp>
      <p:sp>
        <p:nvSpPr>
          <p:cNvPr id="293" name="Google Shape;293;g3dd4f8bfebc_0_15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approach helped in building a strong foundation in full-stack development by covering both backend and frontend concepts in a structured manner. It provided a clear understanding of how different components of an application are designed and developed.</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It also improved problem-solving skills, coding efficiency, and logical thinking through continuous practice. Additionally, it enhanced the ability to understand and implement real-world application logic, making the learning more practical and industry-relevant.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294" name="Google Shape;294;g3dd4f8bfebc_0_15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dd4f8bfebc_0_16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Project Brief</a:t>
            </a:r>
            <a:endParaRPr/>
          </a:p>
        </p:txBody>
      </p:sp>
      <p:sp>
        <p:nvSpPr>
          <p:cNvPr id="301" name="Google Shape;301;g3dd4f8bfebc_0_16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In today’s rapidly evolving IT industry, there is a growing demand for professionals who are proficient in full-stack development and modern technologies. However, many fresh graduates lack practical exposure and hands-on experience required to meet these industry expectations.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gap makes it difficult for them to efficiently contribute to real-world projects from the beginning of their careers.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302" name="Google Shape;302;g3dd4f8bfebc_0_16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dd4f8bfebc_0_16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Project Brief</a:t>
            </a:r>
            <a:endParaRPr/>
          </a:p>
        </p:txBody>
      </p:sp>
      <p:sp>
        <p:nvSpPr>
          <p:cNvPr id="309" name="Google Shape;309;g3dd4f8bfebc_0_16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just" rtl="0">
              <a:lnSpc>
                <a:spcPct val="115000"/>
              </a:lnSpc>
              <a:spcBef>
                <a:spcPts val="1200"/>
              </a:spcBef>
              <a:spcAft>
                <a:spcPts val="0"/>
              </a:spcAft>
              <a:buNone/>
            </a:pPr>
            <a:r>
              <a:rPr lang="en-US" dirty="0">
                <a:latin typeface="Times New Roman"/>
                <a:ea typeface="Times New Roman"/>
                <a:cs typeface="Times New Roman"/>
                <a:sym typeface="Times New Roman"/>
              </a:rPr>
              <a:t>The main focus during the internship was to understand and implement full-stack development using the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(development) &amp; Testing ecosystem. This involved gaining knowledge of both backend and frontend components and how they function together in building applications.</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dirty="0">
                <a:latin typeface="Times New Roman"/>
                <a:ea typeface="Times New Roman"/>
                <a:cs typeface="Times New Roman"/>
                <a:sym typeface="Times New Roman"/>
              </a:rPr>
              <a:t>Since the training covered multiple technologies such as JAVA, SQL, Web API, MVC, Selenium &amp; Appium it was important to first understand each component individually. As the learning progressed, emphasis was placed on integrating these technologies to develop a complete and structured application workflow.</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310" name="Google Shape;310;g3dd4f8bfebc_0_16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dd4f8bfebc_0_17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Project Brief</a:t>
            </a:r>
            <a:endParaRPr/>
          </a:p>
        </p:txBody>
      </p:sp>
      <p:sp>
        <p:nvSpPr>
          <p:cNvPr id="317" name="Google Shape;317;g3dd4f8bfebc_0_17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l" rtl="0">
              <a:lnSpc>
                <a:spcPct val="115000"/>
              </a:lnSpc>
              <a:spcBef>
                <a:spcPts val="1200"/>
              </a:spcBef>
              <a:spcAft>
                <a:spcPts val="0"/>
              </a:spcAft>
              <a:buNone/>
            </a:pPr>
            <a:r>
              <a:rPr lang="en-US" b="1" dirty="0">
                <a:latin typeface="Times New Roman"/>
                <a:ea typeface="Times New Roman"/>
                <a:cs typeface="Times New Roman"/>
                <a:sym typeface="Times New Roman"/>
              </a:rPr>
              <a:t>Challenges:</a:t>
            </a:r>
            <a:endParaRPr b="1" dirty="0">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dirty="0">
                <a:latin typeface="Times New Roman"/>
                <a:ea typeface="Times New Roman"/>
                <a:cs typeface="Times New Roman"/>
                <a:sym typeface="Times New Roman"/>
              </a:rPr>
              <a:t>One of the main challenges during the training was understanding and managing multiple technologies simultaneously, such as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SQL, Web API, MVC, and Selenium. Each technology had its own concepts and implementation approach, which required focused learning.</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dirty="0">
                <a:latin typeface="Times New Roman"/>
                <a:ea typeface="Times New Roman"/>
                <a:cs typeface="Times New Roman"/>
                <a:sym typeface="Times New Roman"/>
              </a:rPr>
              <a:t>Applying these concepts correctly through assignments and coding tasks required consistent practice, logical thinking, and the ability to connect different components effectively</a:t>
            </a:r>
            <a:endParaRPr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318" name="Google Shape;318;g3dd4f8bfebc_0_17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dd4f8bfebc_0_18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Project Brief</a:t>
            </a:r>
            <a:endParaRPr/>
          </a:p>
        </p:txBody>
      </p:sp>
      <p:sp>
        <p:nvSpPr>
          <p:cNvPr id="325" name="Google Shape;325;g3dd4f8bfebc_0_18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training emphasized implementing each concept through hands-on exercises, ensuring a practical understanding of the technologies. This included writing backend logic using JAVA, working with databases through SQL, creating and testing APIs, and structuring applications using the MVC architecture.</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focus was not just on learning theoretical concepts, but on applying them effectively in real scenarios. This approach helped in building confidence and gaining clarity on how different components function in an application.</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326" name="Google Shape;326;g3dd4f8bfebc_0_18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3dd4f8bfebc_0_19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Project Brief</a:t>
            </a:r>
            <a:endParaRPr/>
          </a:p>
        </p:txBody>
      </p:sp>
      <p:sp>
        <p:nvSpPr>
          <p:cNvPr id="333" name="Google Shape;333;g3dd4f8bfebc_0_19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Another important aspect of the training was understanding how different technologies connect and work together within an application. This involved linking backend logic with databases, integrating APIs for communication between components, and structuring the application using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&amp; Testing Core.</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This integration helped in gaining a clear understanding of the complete application flow, from data handling to user interaction. It also made it easier to visualize how individual components come together to form a fully functional and scalable system.</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334" name="Google Shape;334;g3dd4f8bfebc_0_19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g3dd4f8bfebc_0_20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Project Brief</a:t>
            </a:r>
            <a:endParaRPr/>
          </a:p>
        </p:txBody>
      </p:sp>
      <p:sp>
        <p:nvSpPr>
          <p:cNvPr id="341" name="Google Shape;341;g3dd4f8bfebc_0_20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assignments were designed to build practical understanding by focusing on real-time coding problems similar to those encountered in actual development scenarios. Each task required applying concepts logically, which helped in strengthening core programming skills.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Through consistent practice, these assignments improved coding efficiency, problem-solving ability, and understanding of how real-world applications are designed and developed. They also provided exposure to writing clean and structured code.</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342" name="Google Shape;342;g3dd4f8bfebc_0_20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3dd4f8bfebc_0_21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Project Brief</a:t>
            </a:r>
            <a:endParaRPr/>
          </a:p>
        </p:txBody>
      </p:sp>
      <p:sp>
        <p:nvSpPr>
          <p:cNvPr id="349" name="Google Shape;349;g3dd4f8bfebc_0_21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overall focus of this training-based project was to develop strong technical skills across various full-stack technologies in a structured and systematic manner. It aimed at building a clear understanding of concepts along with their practical implementation.</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training also emphasized improving problem-solving abilities, logical thinking, and coding efficiency through continuous practice. As a result, it helped in gaining confidence to work with full-stack technologies and handle real-world development tasks more effectively.</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350" name="Google Shape;350;g3dd4f8bfebc_0_21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3dd4f8bfebc_0_21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Objectives of Internship</a:t>
            </a:r>
            <a:endParaRPr/>
          </a:p>
        </p:txBody>
      </p:sp>
      <p:sp>
        <p:nvSpPr>
          <p:cNvPr id="357" name="Google Shape;357;g3dd4f8bfebc_0_21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primary objective of this internship was to gain a strong understanding of full-stack development using the Development &amp; Testing ecosystem. The training aimed to build both theoretical knowledge and practical skills through a structured learning approach.</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It also focused on preparing trainees for real-world development environments by introducing industry-relevant tools, technologies, and coding practices</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358" name="Google Shape;358;g3dd4f8bfebc_0_21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3dd4f8bfebc_0_22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of Internship</a:t>
            </a:r>
            <a:endParaRPr/>
          </a:p>
        </p:txBody>
      </p:sp>
      <p:sp>
        <p:nvSpPr>
          <p:cNvPr id="365" name="Google Shape;365;g3dd4f8bfebc_0_22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internship was designed to develop a clear understanding of core technical concepts required for application development.</a:t>
            </a:r>
            <a:endParaRPr dirty="0">
              <a:latin typeface="Times New Roman"/>
              <a:ea typeface="Times New Roman"/>
              <a:cs typeface="Times New Roman"/>
              <a:sym typeface="Times New Roman"/>
            </a:endParaRPr>
          </a:p>
          <a:p>
            <a:pPr marL="457200" lvl="0" indent="-298450" algn="just" rtl="0">
              <a:lnSpc>
                <a:spcPct val="115000"/>
              </a:lnSpc>
              <a:spcBef>
                <a:spcPts val="1200"/>
              </a:spcBef>
              <a:spcAft>
                <a:spcPts val="0"/>
              </a:spcAft>
              <a:buSzPts val="1100"/>
              <a:buFont typeface="Times New Roman"/>
              <a:buChar char="●"/>
            </a:pPr>
            <a:r>
              <a:rPr lang="en-US" dirty="0">
                <a:latin typeface="Times New Roman"/>
                <a:ea typeface="Times New Roman"/>
                <a:cs typeface="Times New Roman"/>
                <a:sym typeface="Times New Roman"/>
              </a:rPr>
              <a:t>Learn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(JAVA) programming for backend development</a:t>
            </a:r>
            <a:endParaRPr dirty="0">
              <a:latin typeface="Times New Roman"/>
              <a:ea typeface="Times New Roman"/>
              <a:cs typeface="Times New Roman"/>
              <a:sym typeface="Times New Roman"/>
            </a:endParaRPr>
          </a:p>
          <a:p>
            <a:pPr marL="457200" lvl="0" indent="-298450" algn="just"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Understand database concepts using DBMS and SQL</a:t>
            </a:r>
            <a:endParaRPr dirty="0">
              <a:latin typeface="Times New Roman"/>
              <a:ea typeface="Times New Roman"/>
              <a:cs typeface="Times New Roman"/>
              <a:sym typeface="Times New Roman"/>
            </a:endParaRPr>
          </a:p>
          <a:p>
            <a:pPr marL="457200" lvl="0" indent="-298450" algn="just"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Gain knowledge of Web API and MVC architecture</a:t>
            </a:r>
            <a:endParaRPr dirty="0">
              <a:latin typeface="Times New Roman"/>
              <a:ea typeface="Times New Roman"/>
              <a:cs typeface="Times New Roman"/>
              <a:sym typeface="Times New Roman"/>
            </a:endParaRPr>
          </a:p>
          <a:p>
            <a:pPr marL="457200" lvl="0" indent="-298450" algn="just"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Work with Spring Core framework</a:t>
            </a:r>
            <a:endParaRPr dirty="0">
              <a:latin typeface="Times New Roman"/>
              <a:ea typeface="Times New Roman"/>
              <a:cs typeface="Times New Roman"/>
              <a:sym typeface="Times New Roman"/>
            </a:endParaRPr>
          </a:p>
          <a:p>
            <a:pPr marL="457200" lvl="0" indent="-298450" algn="just"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Get exposure to Selenium and cloud technologies</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366" name="Google Shape;366;g3dd4f8bfebc_0_22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g3dd4f8bfebc_0_23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of Internship</a:t>
            </a:r>
            <a:endParaRPr/>
          </a:p>
        </p:txBody>
      </p:sp>
      <p:sp>
        <p:nvSpPr>
          <p:cNvPr id="373" name="Google Shape;373;g3dd4f8bfebc_0_23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A key objective of the training was to ensure that concepts are not only understood but also applied effectively through hands-on exercises.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included working on assignments, writing code for different modules, and implementing real-time scenarios to strengthen practical knowledge and coding skills.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374" name="Google Shape;374;g3dd4f8bfebc_0_23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g3dd4f8bfebc_0_24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of Internship</a:t>
            </a:r>
            <a:endParaRPr/>
          </a:p>
        </p:txBody>
      </p:sp>
      <p:sp>
        <p:nvSpPr>
          <p:cNvPr id="381" name="Google Shape;381;g3dd4f8bfebc_0_24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Another important objective was to understand how different technologies integrate to form a complete application. This involved connecting backend logic with databases, using APIs for communication, and structuring applications using Spring Core.</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This helped in building a clear understanding of the complete development workflow.</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382" name="Google Shape;382;g3dd4f8bfebc_0_24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g3dd4f8bfebc_0_24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of Internship</a:t>
            </a:r>
            <a:endParaRPr/>
          </a:p>
        </p:txBody>
      </p:sp>
      <p:sp>
        <p:nvSpPr>
          <p:cNvPr id="389" name="Google Shape;389;g3dd4f8bfebc_0_24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internship also focused on improving essential technical and analytical skills required in the industry.</a:t>
            </a:r>
            <a:endParaRPr>
              <a:latin typeface="Times New Roman"/>
              <a:ea typeface="Times New Roman"/>
              <a:cs typeface="Times New Roman"/>
              <a:sym typeface="Times New Roman"/>
            </a:endParaRPr>
          </a:p>
          <a:p>
            <a:pPr marL="457200" lvl="0" indent="-298450" algn="l" rtl="0">
              <a:lnSpc>
                <a:spcPct val="115000"/>
              </a:lnSpc>
              <a:spcBef>
                <a:spcPts val="1200"/>
              </a:spcBef>
              <a:spcAft>
                <a:spcPts val="0"/>
              </a:spcAft>
              <a:buSzPts val="1100"/>
              <a:buFont typeface="Times New Roman"/>
              <a:buChar char="●"/>
            </a:pPr>
            <a:r>
              <a:rPr lang="en-US">
                <a:latin typeface="Times New Roman"/>
                <a:ea typeface="Times New Roman"/>
                <a:cs typeface="Times New Roman"/>
                <a:sym typeface="Times New Roman"/>
              </a:rPr>
              <a:t>Problem-solving and logical thinking</a:t>
            </a:r>
            <a:endParaRPr>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a:latin typeface="Times New Roman"/>
                <a:ea typeface="Times New Roman"/>
                <a:cs typeface="Times New Roman"/>
                <a:sym typeface="Times New Roman"/>
              </a:rPr>
              <a:t>Writing efficient and structured code</a:t>
            </a:r>
            <a:endParaRPr>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a:latin typeface="Times New Roman"/>
                <a:ea typeface="Times New Roman"/>
                <a:cs typeface="Times New Roman"/>
                <a:sym typeface="Times New Roman"/>
              </a:rPr>
              <a:t>Debugging and error handling</a:t>
            </a:r>
            <a:endParaRPr>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a:latin typeface="Times New Roman"/>
                <a:ea typeface="Times New Roman"/>
                <a:cs typeface="Times New Roman"/>
                <a:sym typeface="Times New Roman"/>
              </a:rPr>
              <a:t>Understanding real-world application logic</a:t>
            </a:r>
            <a:endParaRPr>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a:latin typeface="Times New Roman"/>
                <a:ea typeface="Times New Roman"/>
                <a:cs typeface="Times New Roman"/>
                <a:sym typeface="Times New Roman"/>
              </a:rPr>
              <a:t>Adapting to new technologies </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390" name="Google Shape;390;g3dd4f8bfebc_0_24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g3dd4f8bfebc_0_26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of Internship</a:t>
            </a:r>
            <a:endParaRPr/>
          </a:p>
        </p:txBody>
      </p:sp>
      <p:sp>
        <p:nvSpPr>
          <p:cNvPr id="397" name="Google Shape;397;g3dd4f8bfebc_0_26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a:latin typeface="Times New Roman"/>
                <a:ea typeface="Times New Roman"/>
                <a:cs typeface="Times New Roman"/>
                <a:sym typeface="Times New Roman"/>
              </a:rPr>
              <a:t>The overall objective of the internship was to build confidence in working with full-stack technologies and prepare for real-world project environments. It aimed to bridge the gap between theoretical knowledge and practical implementation through continuous learning and hands-on experience.</a:t>
            </a:r>
            <a:endParaRPr>
              <a:latin typeface="Times New Roman"/>
              <a:ea typeface="Times New Roman"/>
              <a:cs typeface="Times New Roman"/>
              <a:sym typeface="Times New Roman"/>
            </a:endParaRPr>
          </a:p>
        </p:txBody>
      </p:sp>
      <p:sp>
        <p:nvSpPr>
          <p:cNvPr id="398" name="Google Shape;398;g3dd4f8bfebc_0_26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3dd4f8bfebc_0_26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Objectives Achieved</a:t>
            </a:r>
            <a:endParaRPr/>
          </a:p>
        </p:txBody>
      </p:sp>
      <p:sp>
        <p:nvSpPr>
          <p:cNvPr id="405" name="Google Shape;405;g3dd4f8bfebc_0_26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objectives of the internship were achieved through a well-structured training program that combined both theoretical understanding and practical implementation. Each concept was first introduced in detail and then reinforced through hands-on exercises and coding tasks.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approach ensured that learning was not limited to theory, but extended to real-time application of concepts. It helped in building clarity, improving retention, and developing confidence in applying technical knowledge effectively.</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406" name="Google Shape;406;g3dd4f8bfebc_0_26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3dd4f8bfebc_0_27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Achieved</a:t>
            </a:r>
            <a:endParaRPr/>
          </a:p>
        </p:txBody>
      </p:sp>
      <p:sp>
        <p:nvSpPr>
          <p:cNvPr id="413" name="Google Shape;413;g3dd4f8bfebc_0_27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&amp; Testing training program was organized into multiple modules, each focusing on a specific technology such as Java, SQL, Web API, MVC, and Junit/Mockito. This modular structure made it easier to understand each concept step by step.</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Starting from basic concepts and gradually moving towards advanced topics helped in building a strong foundation. It also ensured that there was a logical flow in learning, making complex topics easier to understand and implement.</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414" name="Google Shape;414;g3dd4f8bfebc_0_27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g3dd4f8bfebc_0_28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Achieved</a:t>
            </a:r>
            <a:endParaRPr/>
          </a:p>
        </p:txBody>
      </p:sp>
      <p:sp>
        <p:nvSpPr>
          <p:cNvPr id="421" name="Google Shape;421;g3dd4f8bfebc_0_28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Assignments and coding exercises played a crucial role in achieving the objectives of the internship. Each assignment was designed to test the understanding of concepts and required practical implementation.</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By working on these tasks, it became easier to identify mistakes, improve coding practices, and gain hands-on experience. This continuous involvement in assignments helped in strengthening both technical knowledge and problem-solving skills.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422" name="Google Shape;422;g3dd4f8bfebc_0_28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g3dd4f8bfebc_0_28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Achieved</a:t>
            </a:r>
            <a:endParaRPr/>
          </a:p>
        </p:txBody>
      </p:sp>
      <p:sp>
        <p:nvSpPr>
          <p:cNvPr id="429" name="Google Shape;429;g3dd4f8bfebc_0_28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Regular practice was a key factor in achieving the desired learning outcomes. Concepts were implemented immediately after being taught, which helped in better understanding and retention.</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Continuous coding and problem-solving improved logical thinking, coding speed, and accuracy. It also helped in developing the ability to approach problems systematically and find efficient solutions.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430" name="Google Shape;430;g3dd4f8bfebc_0_28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3dd4f8bfebc_0_29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Achieved</a:t>
            </a:r>
            <a:endParaRPr/>
          </a:p>
        </p:txBody>
      </p:sp>
      <p:sp>
        <p:nvSpPr>
          <p:cNvPr id="437" name="Google Shape;437;g3dd4f8bfebc_0_29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An important part of achieving the objectives was understanding how different technologies work together in a real-world application. This involved integrating backend logic with databases, connecting APIs, and structuring applications using Spring Core and Testing(Junit &amp; Mockito).</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This integration provided a complete view of the development process and helped in understanding how individual components interact to form a functional system.</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438" name="Google Shape;438;g3dd4f8bfebc_0_29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g3dd4f8bfebc_0_30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Objectives Achieved</a:t>
            </a:r>
            <a:endParaRPr/>
          </a:p>
        </p:txBody>
      </p:sp>
      <p:sp>
        <p:nvSpPr>
          <p:cNvPr id="445" name="Google Shape;445;g3dd4f8bfebc_0_30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Through structured learning, continuous practice, and hands-on implementation, the internship helped in developing strong technical and analytical skills. It improved problem-solving ability, coding efficiency, and understanding of real-world application logic.</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Overall, this approach ensured that the objectives of the internship were effectively achieved, preparing for real-world development environments.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446" name="Google Shape;446;g3dd4f8bfebc_0_30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g3dd4f8bfebc_0_30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Methodology</a:t>
            </a:r>
            <a:endParaRPr/>
          </a:p>
        </p:txBody>
      </p:sp>
      <p:sp>
        <p:nvSpPr>
          <p:cNvPr id="453" name="Google Shape;453;g3dd4f8bfebc_0_30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methodology followed during the training was a structured and implementation-driven approach. Each concept was first explained theoretically and then applied through hands-on exercises and assignments.This approach ensured a clear understanding of concepts and helped in developing practical skills required for real-world application development.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454" name="Google Shape;454;g3dd4f8bfebc_0_30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g3dd4f8bfebc_0_32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Methodology</a:t>
            </a:r>
            <a:endParaRPr/>
          </a:p>
        </p:txBody>
      </p:sp>
      <p:sp>
        <p:nvSpPr>
          <p:cNvPr id="461" name="Google Shape;461;g3dd4f8bfebc_0_32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training followed a step-by-step learning approach, starting from basic concepts about JAVA and gradually progressing to advanced topics like Spring Core, MVC, Web Applications and Testing Framework. Each session was designed to build upon the previous one, ensuring a smooth learning curve and connectivity with of each and every topic with the other one.</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This systematic approach made it easier to understand complex concepts and apply them effectively.</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462" name="Google Shape;462;g3dd4f8bfebc_0_32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3dd4f8bfebc_0_3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Methodology</a:t>
            </a:r>
            <a:endParaRPr/>
          </a:p>
        </p:txBody>
      </p:sp>
      <p:sp>
        <p:nvSpPr>
          <p:cNvPr id="469" name="Google Shape;469;g3dd4f8bfebc_0_33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A key part of the methodology was hands-on implementation. After learning each concept, it was immediately applied through coding exercises and assignments.This helped in reinforcing the concepts, improving coding skills, and gaining confidence in implementing solutions.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470" name="Google Shape;470;g3dd4f8bfebc_0_33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g3dd4f8bfebc_0_33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Methodology</a:t>
            </a:r>
            <a:endParaRPr/>
          </a:p>
        </p:txBody>
      </p:sp>
      <p:sp>
        <p:nvSpPr>
          <p:cNvPr id="477" name="Google Shape;477;g3dd4f8bfebc_0_33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training also emphasized solving practical coding problems. Assignments were designed in a way that required logical thinking and step-by-step problem-solving.</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approach helped in developing analytical skills and the ability to handle real-world programming challenges.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478" name="Google Shape;478;g3dd4f8bfebc_0_33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3dd4f8bfebc_0_34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Tools and Technologies</a:t>
            </a:r>
            <a:endParaRPr/>
          </a:p>
        </p:txBody>
      </p:sp>
      <p:sp>
        <p:nvSpPr>
          <p:cNvPr id="485" name="Google Shape;485;g3dd4f8bfebc_0_34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dirty="0"/>
              <a:t>The training involved working with various tools and technologies essential for full-stack development.</a:t>
            </a:r>
            <a:endParaRPr dirty="0"/>
          </a:p>
          <a:p>
            <a:pPr marL="457200" lvl="0" indent="-298450" algn="l" rtl="0">
              <a:lnSpc>
                <a:spcPct val="115000"/>
              </a:lnSpc>
              <a:spcBef>
                <a:spcPts val="1200"/>
              </a:spcBef>
              <a:spcAft>
                <a:spcPts val="0"/>
              </a:spcAft>
              <a:buSzPts val="1100"/>
              <a:buChar char="●"/>
            </a:pPr>
            <a:r>
              <a:rPr lang="en-US" dirty="0" err="1"/>
              <a:t>SpringBoot</a:t>
            </a:r>
            <a:r>
              <a:rPr lang="en-US" dirty="0"/>
              <a:t> for backend logic</a:t>
            </a:r>
            <a:endParaRPr dirty="0"/>
          </a:p>
          <a:p>
            <a:pPr marL="457200" lvl="0" indent="-298450" algn="l" rtl="0">
              <a:lnSpc>
                <a:spcPct val="115000"/>
              </a:lnSpc>
              <a:spcBef>
                <a:spcPts val="0"/>
              </a:spcBef>
              <a:spcAft>
                <a:spcPts val="0"/>
              </a:spcAft>
              <a:buSzPts val="1100"/>
              <a:buChar char="●"/>
            </a:pPr>
            <a:r>
              <a:rPr lang="en-US" dirty="0"/>
              <a:t>SQL Server for database management</a:t>
            </a:r>
            <a:endParaRPr dirty="0"/>
          </a:p>
          <a:p>
            <a:pPr marL="457200" lvl="0" indent="-298450" algn="l" rtl="0">
              <a:lnSpc>
                <a:spcPct val="115000"/>
              </a:lnSpc>
              <a:spcBef>
                <a:spcPts val="0"/>
              </a:spcBef>
              <a:spcAft>
                <a:spcPts val="0"/>
              </a:spcAft>
              <a:buSzPts val="1100"/>
              <a:buChar char="●"/>
            </a:pPr>
            <a:r>
              <a:rPr lang="en-US" dirty="0" err="1"/>
              <a:t>SpringBoot</a:t>
            </a:r>
            <a:r>
              <a:rPr lang="en-US" dirty="0"/>
              <a:t> Core for application development</a:t>
            </a:r>
            <a:endParaRPr dirty="0"/>
          </a:p>
          <a:p>
            <a:pPr marL="457200" lvl="0" indent="-298450" algn="l" rtl="0">
              <a:lnSpc>
                <a:spcPct val="115000"/>
              </a:lnSpc>
              <a:spcBef>
                <a:spcPts val="0"/>
              </a:spcBef>
              <a:spcAft>
                <a:spcPts val="0"/>
              </a:spcAft>
              <a:buSzPts val="1100"/>
              <a:buChar char="●"/>
            </a:pPr>
            <a:r>
              <a:rPr lang="en-US" dirty="0"/>
              <a:t>Testing using Junit, Mockito &amp; Selenium/Appium.</a:t>
            </a:r>
            <a:endParaRPr dirty="0"/>
          </a:p>
          <a:p>
            <a:pPr marL="457200" lvl="0" indent="-298450" algn="l" rtl="0">
              <a:lnSpc>
                <a:spcPct val="115000"/>
              </a:lnSpc>
              <a:spcBef>
                <a:spcPts val="0"/>
              </a:spcBef>
              <a:spcAft>
                <a:spcPts val="0"/>
              </a:spcAft>
              <a:buSzPts val="1100"/>
              <a:buChar char="●"/>
            </a:pPr>
            <a:r>
              <a:rPr lang="en-US" dirty="0"/>
              <a:t>MVC architecture for structuring applications</a:t>
            </a:r>
            <a:endParaRPr dirty="0"/>
          </a:p>
          <a:p>
            <a:pPr marL="0" lvl="0" indent="0" algn="l" rtl="0">
              <a:spcBef>
                <a:spcPts val="1200"/>
              </a:spcBef>
              <a:spcAft>
                <a:spcPts val="0"/>
              </a:spcAft>
              <a:buNone/>
            </a:pPr>
            <a:endParaRPr dirty="0"/>
          </a:p>
        </p:txBody>
      </p:sp>
      <p:sp>
        <p:nvSpPr>
          <p:cNvPr id="486" name="Google Shape;486;g3dd4f8bfebc_0_34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3dd4f8bfebc_0_59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Tools and Technologies</a:t>
            </a:r>
            <a:endParaRPr/>
          </a:p>
        </p:txBody>
      </p:sp>
      <p:sp>
        <p:nvSpPr>
          <p:cNvPr id="493" name="Google Shape;493;g3dd4f8bfebc_0_59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b="1" dirty="0">
                <a:latin typeface="Times New Roman"/>
                <a:ea typeface="Times New Roman"/>
                <a:cs typeface="Times New Roman"/>
                <a:sym typeface="Times New Roman"/>
              </a:rPr>
              <a:t>1. JAVA as the core technology</a:t>
            </a:r>
            <a:endParaRPr b="1"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JAVA was used as the primary programming language during the training. It helped in building backend logic and understanding object-oriented programming concepts such as classes, objects, inheritance, and </a:t>
            </a:r>
            <a:r>
              <a:rPr lang="en-US" dirty="0" err="1">
                <a:latin typeface="Times New Roman"/>
                <a:ea typeface="Times New Roman"/>
                <a:cs typeface="Times New Roman"/>
                <a:sym typeface="Times New Roman"/>
              </a:rPr>
              <a:t>encapsulation.Through</a:t>
            </a:r>
            <a:r>
              <a:rPr lang="en-US" dirty="0">
                <a:latin typeface="Times New Roman"/>
                <a:ea typeface="Times New Roman"/>
                <a:cs typeface="Times New Roman"/>
                <a:sym typeface="Times New Roman"/>
              </a:rPr>
              <a:t> assignments, it became easier to write structured and efficient code, which is essential for application development.</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494" name="Google Shape;494;g3dd4f8bfebc_0_59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3dd4f8bfebc_0_60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01" name="Google Shape;501;g3dd4f8bfebc_0_60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JAVA was applied in developing backend functionalities such as handling user input, processing data, and implementing business </a:t>
            </a:r>
            <a:r>
              <a:rPr lang="en-US" dirty="0" err="1">
                <a:latin typeface="Times New Roman"/>
                <a:ea typeface="Times New Roman"/>
                <a:cs typeface="Times New Roman"/>
                <a:sym typeface="Times New Roman"/>
              </a:rPr>
              <a:t>logic.Regular</a:t>
            </a:r>
            <a:r>
              <a:rPr lang="en-US" dirty="0">
                <a:latin typeface="Times New Roman"/>
                <a:ea typeface="Times New Roman"/>
                <a:cs typeface="Times New Roman"/>
                <a:sym typeface="Times New Roman"/>
              </a:rPr>
              <a:t> coding practice helped in improving syntax understanding, debugging skills, and the ability to write optimized code.</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502" name="Google Shape;502;g3dd4f8bfebc_0_60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g3dd4f8bfebc_0_64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09" name="Google Shape;509;g3dd4f8bfebc_0_64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l" rtl="0">
              <a:spcBef>
                <a:spcPts val="1000"/>
              </a:spcBef>
              <a:spcAft>
                <a:spcPts val="0"/>
              </a:spcAft>
              <a:buNone/>
            </a:pPr>
            <a:r>
              <a:rPr lang="en-US" b="1">
                <a:latin typeface="Times New Roman"/>
                <a:ea typeface="Times New Roman"/>
                <a:cs typeface="Times New Roman"/>
                <a:sym typeface="Times New Roman"/>
              </a:rPr>
              <a:t>2. SQL and Database Handling</a:t>
            </a:r>
            <a:endParaRPr b="1">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r>
              <a:rPr lang="en-US">
                <a:latin typeface="Times New Roman"/>
                <a:ea typeface="Times New Roman"/>
                <a:cs typeface="Times New Roman"/>
                <a:sym typeface="Times New Roman"/>
              </a:rPr>
              <a:t>SQL was used to manage and manipulate data within databases, providing a clear understanding of how data is stored, retrieved, and updated in real-world applications. It helped in learning how structured data is organized and accessed efficiently.</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r>
              <a:rPr lang="en-US">
                <a:latin typeface="Times New Roman"/>
                <a:ea typeface="Times New Roman"/>
                <a:cs typeface="Times New Roman"/>
                <a:sym typeface="Times New Roman"/>
              </a:rPr>
              <a:t>Through hands-on practice, various queries were written to perform operations such as data insertion, retrieval, modification, and deletion. This improved the ability to write optimized queries, handle large datasets, and ensure efficient data management within applications.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510" name="Google Shape;510;g3dd4f8bfebc_0_64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g3dd4f8bfebc_0_61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17" name="Google Shape;517;g3dd4f8bfebc_0_61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40000" lnSpcReduction="20000"/>
          </a:bodyPr>
          <a:lstStyle/>
          <a:p>
            <a:pPr marL="0" lvl="0" indent="0" algn="l" rtl="0">
              <a:spcBef>
                <a:spcPts val="1000"/>
              </a:spcBef>
              <a:spcAft>
                <a:spcPts val="0"/>
              </a:spcAft>
              <a:buNone/>
            </a:pPr>
            <a:r>
              <a:rPr lang="en-US" sz="5850" b="1">
                <a:latin typeface="Times New Roman"/>
                <a:ea typeface="Times New Roman"/>
                <a:cs typeface="Times New Roman"/>
                <a:sym typeface="Times New Roman"/>
              </a:rPr>
              <a:t>3. Database Operations</a:t>
            </a:r>
            <a:endParaRPr sz="585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5850">
                <a:latin typeface="Times New Roman"/>
                <a:ea typeface="Times New Roman"/>
                <a:cs typeface="Times New Roman"/>
                <a:sym typeface="Times New Roman"/>
              </a:rPr>
              <a:t>Various database operations such as </a:t>
            </a:r>
            <a:r>
              <a:rPr lang="en-US" sz="5850" b="1">
                <a:latin typeface="Times New Roman"/>
                <a:ea typeface="Times New Roman"/>
                <a:cs typeface="Times New Roman"/>
                <a:sym typeface="Times New Roman"/>
              </a:rPr>
              <a:t>INSERT, UPDATE, DELETE, and SELECT</a:t>
            </a:r>
            <a:r>
              <a:rPr lang="en-US" sz="5850">
                <a:latin typeface="Times New Roman"/>
                <a:ea typeface="Times New Roman"/>
                <a:cs typeface="Times New Roman"/>
                <a:sym typeface="Times New Roman"/>
              </a:rPr>
              <a:t> were performed during assignments to manage and manipulate data effectively. These operations helped in understanding how data is added, modified, retrieved, and removed within a database system.</a:t>
            </a:r>
            <a:endParaRPr sz="585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5850">
                <a:latin typeface="Times New Roman"/>
                <a:ea typeface="Times New Roman"/>
                <a:cs typeface="Times New Roman"/>
                <a:sym typeface="Times New Roman"/>
              </a:rPr>
              <a:t>Working on these queries provided a clear understanding of </a:t>
            </a:r>
            <a:r>
              <a:rPr lang="en-US" sz="5850" b="1">
                <a:latin typeface="Times New Roman"/>
                <a:ea typeface="Times New Roman"/>
                <a:cs typeface="Times New Roman"/>
                <a:sym typeface="Times New Roman"/>
              </a:rPr>
              <a:t>CRUD (Create, Read, Update, Delete) operations</a:t>
            </a:r>
            <a:r>
              <a:rPr lang="en-US" sz="5850">
                <a:latin typeface="Times New Roman"/>
                <a:ea typeface="Times New Roman"/>
                <a:cs typeface="Times New Roman"/>
                <a:sym typeface="Times New Roman"/>
              </a:rPr>
              <a:t>, which form the foundation of most applications. This knowledge is essential for building dynamic, data-driven applications and handling data efficiently.</a:t>
            </a:r>
            <a:endParaRPr sz="5850">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a:p>
          <a:p>
            <a:pPr marL="0" lvl="0" indent="0" algn="l" rtl="0">
              <a:lnSpc>
                <a:spcPct val="115000"/>
              </a:lnSpc>
              <a:spcBef>
                <a:spcPts val="1200"/>
              </a:spcBef>
              <a:spcAft>
                <a:spcPts val="0"/>
              </a:spcAft>
              <a:buNone/>
            </a:pPr>
            <a:endParaRPr/>
          </a:p>
          <a:p>
            <a:pPr marL="0" lvl="0" indent="0" algn="l" rtl="0">
              <a:spcBef>
                <a:spcPts val="1200"/>
              </a:spcBef>
              <a:spcAft>
                <a:spcPts val="0"/>
              </a:spcAft>
              <a:buNone/>
            </a:pPr>
            <a:endParaRPr/>
          </a:p>
        </p:txBody>
      </p:sp>
      <p:sp>
        <p:nvSpPr>
          <p:cNvPr id="518" name="Google Shape;518;g3dd4f8bfebc_0_61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g3dd4f8bfebc_0_62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25" name="Google Shape;525;g3dd4f8bfebc_0_62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just" rtl="0">
              <a:spcBef>
                <a:spcPts val="1000"/>
              </a:spcBef>
              <a:spcAft>
                <a:spcPts val="0"/>
              </a:spcAft>
              <a:buNone/>
            </a:pPr>
            <a:r>
              <a:rPr lang="en-US" b="1" dirty="0">
                <a:latin typeface="Times New Roman"/>
                <a:ea typeface="Times New Roman"/>
                <a:cs typeface="Times New Roman"/>
                <a:sym typeface="Times New Roman"/>
              </a:rPr>
              <a:t>4. API Integration</a:t>
            </a:r>
            <a:endParaRPr b="1"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APIs were created and tested to understand the request-response mechanism and how data is exchanged between client and server. Tools like </a:t>
            </a:r>
            <a:r>
              <a:rPr lang="en-US" b="1" dirty="0" err="1">
                <a:latin typeface="Times New Roman"/>
                <a:ea typeface="Times New Roman"/>
                <a:cs typeface="Times New Roman"/>
                <a:sym typeface="Times New Roman"/>
              </a:rPr>
              <a:t>IntellijIdea</a:t>
            </a:r>
            <a:r>
              <a:rPr lang="en-US" dirty="0">
                <a:latin typeface="Times New Roman"/>
                <a:ea typeface="Times New Roman"/>
                <a:cs typeface="Times New Roman"/>
                <a:sym typeface="Times New Roman"/>
              </a:rPr>
              <a:t> were used to send requests, check responses, and verify API functionality.</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This helped in understanding how real-world systems communicate with each other, enabling smooth data transfer between different components of an application. It also improved clarity on endpoints, HTTP methods, and response handling.</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526" name="Google Shape;526;g3dd4f8bfebc_0_62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g3dd4f8bfebc_0_63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33" name="Google Shape;533;g3dd4f8bfebc_0_63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just" rtl="0">
              <a:spcBef>
                <a:spcPts val="1000"/>
              </a:spcBef>
              <a:spcAft>
                <a:spcPts val="0"/>
              </a:spcAft>
              <a:buNone/>
            </a:pPr>
            <a:r>
              <a:rPr lang="en-US" b="1">
                <a:latin typeface="Times New Roman"/>
                <a:ea typeface="Times New Roman"/>
                <a:cs typeface="Times New Roman"/>
                <a:sym typeface="Times New Roman"/>
              </a:rPr>
              <a:t>5. MVC Architecture</a:t>
            </a:r>
            <a:endParaRPr b="1">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a:latin typeface="Times New Roman"/>
                <a:ea typeface="Times New Roman"/>
                <a:cs typeface="Times New Roman"/>
                <a:sym typeface="Times New Roman"/>
              </a:rPr>
              <a:t>MVC (Model-View-Controller) architecture was used to structure applications in a systematic and organized manner. It divides the application into three main components, each with a specific responsibility.</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a:latin typeface="Times New Roman"/>
                <a:ea typeface="Times New Roman"/>
                <a:cs typeface="Times New Roman"/>
                <a:sym typeface="Times New Roman"/>
              </a:rPr>
              <a:t>This separation of concerns helped in making the code more organized, easier to manage, and maintainable. It also improved understanding of application flow and how different layers interact within a real-world application.</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534" name="Google Shape;534;g3dd4f8bfebc_0_63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g3dd4f8bfebc_0_63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41" name="Google Shape;541;g3dd4f8bfebc_0_63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just" rtl="0">
              <a:spcBef>
                <a:spcPts val="1000"/>
              </a:spcBef>
              <a:spcAft>
                <a:spcPts val="0"/>
              </a:spcAft>
              <a:buNone/>
            </a:pPr>
            <a:r>
              <a:rPr lang="en-US" b="1" dirty="0">
                <a:latin typeface="Times New Roman"/>
                <a:ea typeface="Times New Roman"/>
                <a:cs typeface="Times New Roman"/>
                <a:sym typeface="Times New Roman"/>
              </a:rPr>
              <a:t>6. </a:t>
            </a:r>
            <a:r>
              <a:rPr lang="en-US" b="1" dirty="0" err="1">
                <a:latin typeface="Times New Roman"/>
                <a:ea typeface="Times New Roman"/>
                <a:cs typeface="Times New Roman"/>
                <a:sym typeface="Times New Roman"/>
              </a:rPr>
              <a:t>SpringBoot</a:t>
            </a:r>
            <a:r>
              <a:rPr lang="en-US" b="1" dirty="0">
                <a:latin typeface="Times New Roman"/>
                <a:ea typeface="Times New Roman"/>
                <a:cs typeface="Times New Roman"/>
                <a:sym typeface="Times New Roman"/>
              </a:rPr>
              <a:t> Framework</a:t>
            </a:r>
            <a:endParaRPr b="1"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was used as the framework for developing modern, scalable, and high-performance applications. It provides flexibility and supports cross-platform development, making it suitable for building enterprise-level solutions.</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Working with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helped in understanding how applications are structured, developed, and deployed in a professional environment. It also provided insights into modern development practices and efficient application management.</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542" name="Google Shape;542;g3dd4f8bfebc_0_63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g3dd4f8bfebc_0_65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49" name="Google Shape;549;g3dd4f8bfebc_0_65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b="1" dirty="0">
                <a:latin typeface="Times New Roman"/>
                <a:ea typeface="Times New Roman"/>
                <a:cs typeface="Times New Roman"/>
                <a:sym typeface="Times New Roman"/>
              </a:rPr>
              <a:t>7. Selenium &amp; Appium</a:t>
            </a:r>
            <a:endParaRPr b="1"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Selenium was introduced as a testing tool used for managing &amp; testing applications. It provides various services that support application testing, mobile automation testing, and scalability in a cloud environment.</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550" name="Google Shape;550;g3dd4f8bfebc_0_65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g3dd4f8bfebc_0_66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57" name="Google Shape;557;g3dd4f8bfebc_0_66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just" rtl="0">
              <a:spcBef>
                <a:spcPts val="1000"/>
              </a:spcBef>
              <a:spcAft>
                <a:spcPts val="0"/>
              </a:spcAft>
              <a:buNone/>
            </a:pPr>
            <a:r>
              <a:rPr lang="en-US" sz="2700" b="1">
                <a:latin typeface="Times New Roman"/>
                <a:ea typeface="Times New Roman"/>
                <a:cs typeface="Times New Roman"/>
                <a:sym typeface="Times New Roman"/>
              </a:rPr>
              <a:t>8. Integrated Use</a:t>
            </a:r>
            <a:endParaRPr sz="2700" b="1">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40741"/>
              <a:buFont typeface="Arial"/>
              <a:buNone/>
            </a:pPr>
            <a:r>
              <a:rPr lang="en-US" sz="2700">
                <a:latin typeface="Times New Roman"/>
                <a:ea typeface="Times New Roman"/>
                <a:cs typeface="Times New Roman"/>
                <a:sym typeface="Times New Roman"/>
              </a:rPr>
              <a:t>During the training, a class assignment was carried out by integrating multiple technologies learned throughout the course. The assignment involved developing a basic application where backend logic was implemented using </a:t>
            </a:r>
            <a:r>
              <a:rPr lang="en-US" sz="2700" b="1">
                <a:latin typeface="Times New Roman"/>
                <a:ea typeface="Times New Roman"/>
                <a:cs typeface="Times New Roman"/>
                <a:sym typeface="Times New Roman"/>
              </a:rPr>
              <a:t>C#</a:t>
            </a:r>
            <a:r>
              <a:rPr lang="en-US" sz="2700">
                <a:latin typeface="Times New Roman"/>
                <a:ea typeface="Times New Roman"/>
                <a:cs typeface="Times New Roman"/>
                <a:sym typeface="Times New Roman"/>
              </a:rPr>
              <a:t>, data was managed using </a:t>
            </a:r>
            <a:r>
              <a:rPr lang="en-US" sz="2700" b="1">
                <a:latin typeface="Times New Roman"/>
                <a:ea typeface="Times New Roman"/>
                <a:cs typeface="Times New Roman"/>
                <a:sym typeface="Times New Roman"/>
              </a:rPr>
              <a:t>SQL</a:t>
            </a:r>
            <a:r>
              <a:rPr lang="en-US" sz="2700">
                <a:latin typeface="Times New Roman"/>
                <a:ea typeface="Times New Roman"/>
                <a:cs typeface="Times New Roman"/>
                <a:sym typeface="Times New Roman"/>
              </a:rPr>
              <a:t>, and APIs were created using </a:t>
            </a:r>
            <a:r>
              <a:rPr lang="en-US" sz="2700" b="1">
                <a:latin typeface="Times New Roman"/>
                <a:ea typeface="Times New Roman"/>
                <a:cs typeface="Times New Roman"/>
                <a:sym typeface="Times New Roman"/>
              </a:rPr>
              <a:t>Web API</a:t>
            </a:r>
            <a:r>
              <a:rPr lang="en-US" sz="2700">
                <a:latin typeface="Times New Roman"/>
                <a:ea typeface="Times New Roman"/>
                <a:cs typeface="Times New Roman"/>
                <a:sym typeface="Times New Roman"/>
              </a:rPr>
              <a:t>.</a:t>
            </a:r>
            <a:endParaRPr sz="27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40741"/>
              <a:buFont typeface="Arial"/>
              <a:buNone/>
            </a:pPr>
            <a:r>
              <a:rPr lang="en-US" sz="2700">
                <a:latin typeface="Times New Roman"/>
                <a:ea typeface="Times New Roman"/>
                <a:cs typeface="Times New Roman"/>
                <a:sym typeface="Times New Roman"/>
              </a:rPr>
              <a:t>The application was structured using the </a:t>
            </a:r>
            <a:r>
              <a:rPr lang="en-US" sz="2700" b="1">
                <a:latin typeface="Times New Roman"/>
                <a:ea typeface="Times New Roman"/>
                <a:cs typeface="Times New Roman"/>
                <a:sym typeface="Times New Roman"/>
              </a:rPr>
              <a:t>MVC architecture</a:t>
            </a:r>
            <a:r>
              <a:rPr lang="en-US" sz="2700">
                <a:latin typeface="Times New Roman"/>
                <a:ea typeface="Times New Roman"/>
                <a:cs typeface="Times New Roman"/>
                <a:sym typeface="Times New Roman"/>
              </a:rPr>
              <a:t>, which helped in organizing different components effectively. This integration provided a clear understanding of how various technologies work together in a real-world development environment</a:t>
            </a:r>
            <a:endParaRPr sz="2700">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558" name="Google Shape;558;g3dd4f8bfebc_0_66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g3dd4f8bfebc_0_35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65" name="Google Shape;565;g3dd4f8bfebc_0_35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l"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Various development tools were used to support coding and application development during the training.</a:t>
            </a:r>
            <a:endParaRPr dirty="0">
              <a:latin typeface="Times New Roman"/>
              <a:ea typeface="Times New Roman"/>
              <a:cs typeface="Times New Roman"/>
              <a:sym typeface="Times New Roman"/>
            </a:endParaRPr>
          </a:p>
          <a:p>
            <a:pPr marL="457200" lvl="0" indent="-293211" algn="l" rtl="0">
              <a:lnSpc>
                <a:spcPct val="115000"/>
              </a:lnSpc>
              <a:spcBef>
                <a:spcPts val="1200"/>
              </a:spcBef>
              <a:spcAft>
                <a:spcPts val="0"/>
              </a:spcAft>
              <a:buSzPct val="39286"/>
              <a:buFont typeface="Times New Roman"/>
              <a:buChar char="●"/>
            </a:pPr>
            <a:r>
              <a:rPr lang="en-US" dirty="0">
                <a:latin typeface="Times New Roman"/>
                <a:ea typeface="Times New Roman"/>
                <a:cs typeface="Times New Roman"/>
                <a:sym typeface="Times New Roman"/>
              </a:rPr>
              <a:t>Visual Studio for development</a:t>
            </a:r>
            <a:endParaRPr dirty="0">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SQL Server Management Studio (SSMS)</a:t>
            </a:r>
            <a:endParaRPr dirty="0">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dirty="0">
                <a:latin typeface="Times New Roman"/>
                <a:ea typeface="Times New Roman"/>
                <a:cs typeface="Times New Roman"/>
                <a:sym typeface="Times New Roman"/>
              </a:rPr>
              <a:t>Git for version control</a:t>
            </a:r>
            <a:endParaRPr dirty="0">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dirty="0" err="1">
                <a:latin typeface="Times New Roman"/>
                <a:ea typeface="Times New Roman"/>
                <a:cs typeface="Times New Roman"/>
                <a:sym typeface="Times New Roman"/>
              </a:rPr>
              <a:t>Github</a:t>
            </a:r>
            <a:r>
              <a:rPr lang="en-US" dirty="0">
                <a:latin typeface="Times New Roman"/>
                <a:ea typeface="Times New Roman"/>
                <a:cs typeface="Times New Roman"/>
                <a:sym typeface="Times New Roman"/>
              </a:rPr>
              <a:t> maintaining projects and assignments</a:t>
            </a:r>
          </a:p>
          <a:p>
            <a:pPr marL="457200" lvl="0" indent="-293211" algn="l" rtl="0">
              <a:lnSpc>
                <a:spcPct val="115000"/>
              </a:lnSpc>
              <a:spcBef>
                <a:spcPts val="0"/>
              </a:spcBef>
              <a:spcAft>
                <a:spcPts val="0"/>
              </a:spcAft>
              <a:buSzPct val="39286"/>
              <a:buFont typeface="Times New Roman"/>
              <a:buChar char="●"/>
            </a:pPr>
            <a:r>
              <a:rPr lang="en-IN" dirty="0" err="1">
                <a:latin typeface="Times New Roman"/>
                <a:ea typeface="Times New Roman"/>
                <a:cs typeface="Times New Roman"/>
                <a:sym typeface="Times New Roman"/>
              </a:rPr>
              <a:t>IntellijIdea</a:t>
            </a:r>
            <a:r>
              <a:rPr lang="en-IN" dirty="0">
                <a:latin typeface="Times New Roman"/>
                <a:ea typeface="Times New Roman"/>
                <a:cs typeface="Times New Roman"/>
                <a:sym typeface="Times New Roman"/>
              </a:rPr>
              <a:t> for </a:t>
            </a:r>
            <a:r>
              <a:rPr lang="en-IN" dirty="0" err="1">
                <a:latin typeface="Times New Roman"/>
                <a:ea typeface="Times New Roman"/>
                <a:cs typeface="Times New Roman"/>
                <a:sym typeface="Times New Roman"/>
              </a:rPr>
              <a:t>SpringBoot</a:t>
            </a:r>
            <a:r>
              <a:rPr lang="en-IN" dirty="0">
                <a:latin typeface="Times New Roman"/>
                <a:ea typeface="Times New Roman"/>
                <a:cs typeface="Times New Roman"/>
                <a:sym typeface="Times New Roman"/>
              </a:rPr>
              <a:t> application Development</a:t>
            </a:r>
            <a:endParaRPr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These tools helped in building, testing, and managing applications efficiently</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566" name="Google Shape;566;g3dd4f8bfebc_0_35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g3dd4f8bfebc_0_35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73" name="Google Shape;573;g3dd4f8bfebc_0_35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training also included basic exposure to cloud technologies, particularly Dockers. It provided an understanding of how applications can be deployed and managed on cloud platforms.</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This helped in learning modern deployment practices and cloud-based application management.</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574" name="Google Shape;574;g3dd4f8bfebc_0_35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g3dd4f8bfebc_0_37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Tools and Technologies</a:t>
            </a:r>
            <a:endParaRPr/>
          </a:p>
        </p:txBody>
      </p:sp>
      <p:sp>
        <p:nvSpPr>
          <p:cNvPr id="581" name="Google Shape;581;g3dd4f8bfebc_0_37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methodology followed during the training ensured a balance between theoretical learning and practical implementation. It helped in developing technical skills, improving problem-solving ability, and gaining confidence in working with modern development tools and technologies.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Overall, it prepared for working in a real-world development environment.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582" name="Google Shape;582;g3dd4f8bfebc_0_37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g3dd4f8bfebc_0_37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Results</a:t>
            </a:r>
            <a:endParaRPr/>
          </a:p>
        </p:txBody>
      </p:sp>
      <p:sp>
        <p:nvSpPr>
          <p:cNvPr id="589" name="Google Shape;589;g3dd4f8bfebc_0_37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During the internship, a significant improvement was observed in understanding full-stack development concepts and their practical implementation. The structured training, along with continuous assignments, helped in building a strong technical foundation.</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It became easier to connect theoretical knowledge with real-time application development, which improved overall clarity and confidence in working with different technologies.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590" name="Google Shape;590;g3dd4f8bfebc_0_37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g3dd4f8bfebc_0_68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Results</a:t>
            </a:r>
            <a:endParaRPr/>
          </a:p>
        </p:txBody>
      </p:sp>
      <p:sp>
        <p:nvSpPr>
          <p:cNvPr id="597" name="Google Shape;597;g3dd4f8bfebc_0_68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IN" dirty="0"/>
              <a:t>Once the internship is completed, we will be aware of JAVA technologies, Testing technologies(Selenium, Appium &amp; Mobile </a:t>
            </a:r>
            <a:r>
              <a:rPr lang="en-IN" dirty="0" err="1"/>
              <a:t>Automaiton</a:t>
            </a:r>
            <a:r>
              <a:rPr lang="en-IN" dirty="0"/>
              <a:t> Testing), Docker &amp; </a:t>
            </a:r>
            <a:r>
              <a:rPr lang="en-IN" dirty="0" err="1"/>
              <a:t>Git&amp;GitHub</a:t>
            </a:r>
            <a:r>
              <a:rPr lang="en-IN" dirty="0"/>
              <a:t>.</a:t>
            </a:r>
            <a:endParaRPr dirty="0"/>
          </a:p>
        </p:txBody>
      </p:sp>
      <p:sp>
        <p:nvSpPr>
          <p:cNvPr id="598" name="Google Shape;598;g3dd4f8bfebc_0_68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g3dd4f8bfebc_0_69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Results</a:t>
            </a:r>
            <a:endParaRPr/>
          </a:p>
        </p:txBody>
      </p:sp>
      <p:sp>
        <p:nvSpPr>
          <p:cNvPr id="605" name="Google Shape;605;g3dd4f8bfebc_0_69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assessment helped in identifying strengths and areas that required further improvement.The M1 assessment provided valuable feedback on performance and understanding of key concepts. It helped in recognizing mistakes and improving problem-solving approaches.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It also motivated continuous learning and practice, ensuring better performance in future tasks and assessments.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06" name="Google Shape;606;g3dd4f8bfebc_0_69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g3dd4f8bfebc_0_38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Observations</a:t>
            </a:r>
            <a:endParaRPr/>
          </a:p>
        </p:txBody>
      </p:sp>
      <p:sp>
        <p:nvSpPr>
          <p:cNvPr id="613" name="Google Shape;613;g3dd4f8bfebc_0_38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dirty="0"/>
              <a:t>The training led to a detailed understanding of various technologies such as JAVA, SQL, Web API, MVC, </a:t>
            </a:r>
            <a:r>
              <a:rPr lang="en-US" dirty="0" err="1"/>
              <a:t>SpringBoot</a:t>
            </a:r>
            <a:r>
              <a:rPr lang="en-US" dirty="0"/>
              <a:t>, and Selenium. Each concept was not only learned theoretically but also applied through practical tasks.</a:t>
            </a:r>
            <a:endParaRPr dirty="0"/>
          </a:p>
          <a:p>
            <a:pPr marL="0" lvl="0" indent="0" algn="l" rtl="0">
              <a:lnSpc>
                <a:spcPct val="115000"/>
              </a:lnSpc>
              <a:spcBef>
                <a:spcPts val="1200"/>
              </a:spcBef>
              <a:spcAft>
                <a:spcPts val="0"/>
              </a:spcAft>
              <a:buClr>
                <a:schemeClr val="dk1"/>
              </a:buClr>
              <a:buSzPts val="1100"/>
              <a:buFont typeface="Arial"/>
              <a:buNone/>
            </a:pPr>
            <a:r>
              <a:rPr lang="en-US" dirty="0"/>
              <a:t>This combination of learning and implementation helped in gaining deeper insights into how these technologies are used in real-world development, improving both knowledge and confidence.</a:t>
            </a:r>
            <a:endParaRPr dirty="0"/>
          </a:p>
          <a:p>
            <a:pPr marL="0" lvl="0" indent="0" algn="l" rtl="0">
              <a:spcBef>
                <a:spcPts val="1200"/>
              </a:spcBef>
              <a:spcAft>
                <a:spcPts val="0"/>
              </a:spcAft>
              <a:buNone/>
            </a:pPr>
            <a:endParaRPr dirty="0"/>
          </a:p>
        </p:txBody>
      </p:sp>
      <p:sp>
        <p:nvSpPr>
          <p:cNvPr id="614" name="Google Shape;614;g3dd4f8bfebc_0_38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g3dd4f8bfebc_0_39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Work Experience</a:t>
            </a:r>
            <a:endParaRPr/>
          </a:p>
        </p:txBody>
      </p:sp>
      <p:sp>
        <p:nvSpPr>
          <p:cNvPr id="621" name="Google Shape;621;g3dd4f8bfebc_0_39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Regular assignments and coding exercises provided valuable hands-on experience in developing applications. Tasks such as writing backend logic, working with databases, creating APIs, and structuring applications helped in understanding the actual development process.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practical exposure made it easier to handle coding tasks independently and improved overall programming skills.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22" name="Google Shape;622;g3dd4f8bfebc_0_39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g3dd4f8bfebc_0_40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Work Experience</a:t>
            </a:r>
            <a:endParaRPr/>
          </a:p>
        </p:txBody>
      </p:sp>
      <p:sp>
        <p:nvSpPr>
          <p:cNvPr id="629" name="Google Shape;629;g3dd4f8bfebc_0_40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One of the key observations was the improved understanding of how different components of an application interact with each other. From storing data in databases to processing it using backend logic and exposing it through APIs or MVC structure, the complete workflow became clearer.This understanding is essential for building scalable and efficient applications.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30" name="Google Shape;630;g3dd4f8bfebc_0_40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g3dd4f8bfebc_0_41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Work Experience</a:t>
            </a:r>
            <a:endParaRPr/>
          </a:p>
        </p:txBody>
      </p:sp>
      <p:sp>
        <p:nvSpPr>
          <p:cNvPr id="637" name="Google Shape;637;g3dd4f8bfebc_0_41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internship played a major role in improving problem-solving and logical thinking skills. Each assignment required analyzing the problem, breaking it into smaller parts, and implementing a suitable solution.</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process helped in developing a structured approach to solving coding problems and improved the ability to handle complex scenarios.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38" name="Google Shape;638;g3dd4f8bfebc_0_41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g3dd4f8bfebc_0_41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Work Experience</a:t>
            </a:r>
            <a:endParaRPr/>
          </a:p>
        </p:txBody>
      </p:sp>
      <p:sp>
        <p:nvSpPr>
          <p:cNvPr id="645" name="Google Shape;645;g3dd4f8bfebc_0_41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training provided a professional and structured learning environment similar to real-world development. Tasks were assigned with clear objectives and timelines, which helped in understanding the importance of discipline and consistency.</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It also provided exposure to working in a team-oriented environment and following proper development practices.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46" name="Google Shape;646;g3dd4f8bfebc_0_41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g3dd4f8bfebc_0_42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Work Experience</a:t>
            </a:r>
            <a:endParaRPr/>
          </a:p>
        </p:txBody>
      </p:sp>
      <p:sp>
        <p:nvSpPr>
          <p:cNvPr id="653" name="Google Shape;653;g3dd4f8bfebc_0_42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Another important outcome of the internship was improved adaptability to new technologies and tools. Learning multiple frameworks and concepts within a limited time required continuous effort and flexibility.</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helped in becoming more confident in learning new technologies quickly and applying them effectively.</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54" name="Google Shape;654;g3dd4f8bfebc_0_42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3dd4f8bfebc_0_43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Work Experience</a:t>
            </a:r>
            <a:endParaRPr/>
          </a:p>
        </p:txBody>
      </p:sp>
      <p:sp>
        <p:nvSpPr>
          <p:cNvPr id="661" name="Google Shape;661;g3dd4f8bfebc_0_43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Overall, the internship experience was highly valuable as it combined technical learning with practical exposure. It helped in building confidence, improving coding efficiency, and understanding real-world development practices.This experience has prepared me to take on future challenges in the field of software development with a stronger foundation.</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62" name="Google Shape;662;g3dd4f8bfebc_0_43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3dd4f8bfebc_0_44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Skills Learnt</a:t>
            </a:r>
            <a:endParaRPr/>
          </a:p>
        </p:txBody>
      </p:sp>
      <p:sp>
        <p:nvSpPr>
          <p:cNvPr id="669" name="Google Shape;669;g3dd4f8bfebc_0_44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During the internship, a combination of technical (scientific) and professional skills were developed through continuous learning, hands-on assignments, and practical implementation. The structured training approach ensured that these skills were not only learned theoretically but also applied in real coding scenarios.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helped in building a strong foundation required for working in modern software development environments.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70" name="Google Shape;670;g3dd4f8bfebc_0_44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g3dd4f8bfebc_0_45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Skills Learnt</a:t>
            </a:r>
            <a:endParaRPr/>
          </a:p>
        </p:txBody>
      </p:sp>
      <p:sp>
        <p:nvSpPr>
          <p:cNvPr id="677" name="Google Shape;677;g3dd4f8bfebc_0_45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internship primarily focused on developing technical skills related to full-stack development using the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ecosystem. Each module contributed towards strengthening different aspects of development, including programming, database management, and application design.</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continuous practice and implementation helped in gaining clarity and confidence in handling technical tasks.</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678" name="Google Shape;678;g3dd4f8bfebc_0_45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3dd4f8bfebc_0_45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Skills Learnt</a:t>
            </a:r>
            <a:endParaRPr/>
          </a:p>
        </p:txBody>
      </p:sp>
      <p:sp>
        <p:nvSpPr>
          <p:cNvPr id="685" name="Google Shape;685;g3dd4f8bfebc_0_45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b="1" dirty="0">
                <a:latin typeface="Times New Roman"/>
                <a:ea typeface="Times New Roman"/>
                <a:cs typeface="Times New Roman"/>
                <a:sym typeface="Times New Roman"/>
              </a:rPr>
              <a:t>1.Programming and Logical Thinking</a:t>
            </a:r>
            <a:endParaRPr dirty="0"/>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A strong foundation was developed in JAVA programming, which included understanding object-oriented concepts, writing structured and efficient code, and implementing backend logic.</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In addition, regular coding exercises improved logical thinking and the ability to approach problems in a systematic manner, which is essential for software development.</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686" name="Google Shape;686;g3dd4f8bfebc_0_45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g3dd4f8bfebc_0_46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Skills Learnt</a:t>
            </a:r>
            <a:endParaRPr/>
          </a:p>
        </p:txBody>
      </p:sp>
      <p:sp>
        <p:nvSpPr>
          <p:cNvPr id="693" name="Google Shape;693;g3dd4f8bfebc_0_46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None/>
            </a:pPr>
            <a:r>
              <a:rPr lang="en-US" b="1">
                <a:latin typeface="Times New Roman"/>
                <a:ea typeface="Times New Roman"/>
                <a:cs typeface="Times New Roman"/>
                <a:sym typeface="Times New Roman"/>
              </a:rPr>
              <a:t>2. Database and Database Management</a:t>
            </a:r>
            <a:endParaRPr b="1">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internship helped in developing a clear understanding of database concepts using SQL. This included writing queries, performing CRUD operations, and managing data efficiently.</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It also provided insight into how data is stored, retrieved, and manipulated within applications, which is a critical part of backend development.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694" name="Google Shape;694;g3dd4f8bfebc_0_46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g3dd4f8bfebc_0_47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Skills Learnt</a:t>
            </a:r>
            <a:endParaRPr/>
          </a:p>
        </p:txBody>
      </p:sp>
      <p:sp>
        <p:nvSpPr>
          <p:cNvPr id="701" name="Google Shape;701;g3dd4f8bfebc_0_47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b="1">
                <a:latin typeface="Times New Roman"/>
                <a:ea typeface="Times New Roman"/>
                <a:cs typeface="Times New Roman"/>
                <a:sym typeface="Times New Roman"/>
              </a:rPr>
              <a:t>3. Understanding API Calls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Working with Web APIs helped in understanding how different components of an application communicate with each other. This included creating APIs, testing them, and integrating them with backend logic and databases.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skill is important for building scalable and modular applications in real-world scenarios.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02" name="Google Shape;702;g3dd4f8bfebc_0_47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76</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g3dd4f8bfebc_0_48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Skills Learnt</a:t>
            </a:r>
            <a:endParaRPr/>
          </a:p>
        </p:txBody>
      </p:sp>
      <p:sp>
        <p:nvSpPr>
          <p:cNvPr id="709" name="Google Shape;709;g3dd4f8bfebc_0_48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b="1" dirty="0">
                <a:latin typeface="Times New Roman"/>
                <a:ea typeface="Times New Roman"/>
                <a:cs typeface="Times New Roman"/>
                <a:sym typeface="Times New Roman"/>
              </a:rPr>
              <a:t>4. Application Architecture</a:t>
            </a:r>
            <a:endParaRPr b="1"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training provided knowledge of application structuring using MVC and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This helped in understanding how applications are organized into different layers and how each layer functions.</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It improved the ability to design and develop applications in a structured and maintainable way.</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710" name="Google Shape;710;g3dd4f8bfebc_0_48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3dd4f8bfebc_0_48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Skills Learnt</a:t>
            </a:r>
            <a:endParaRPr/>
          </a:p>
        </p:txBody>
      </p:sp>
      <p:sp>
        <p:nvSpPr>
          <p:cNvPr id="717" name="Google Shape;717;g3dd4f8bfebc_0_48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b="1">
                <a:latin typeface="Times New Roman"/>
                <a:ea typeface="Times New Roman"/>
                <a:cs typeface="Times New Roman"/>
                <a:sym typeface="Times New Roman"/>
              </a:rPr>
              <a:t>5. Power Skills</a:t>
            </a:r>
            <a:endParaRPr b="1">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Along with technical knowledge, several professional skills were developed during the internship. Working in a structured training environment helped in improving time management, consistency, and discipline.</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It also enhanced the ability to follow instructions, communicate effectively, and adapt to new technologies, which are essential skills in a professional setting.</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18" name="Google Shape;718;g3dd4f8bfebc_0_48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3dd4f8bfebc_0_67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Skills Learnt</a:t>
            </a:r>
            <a:endParaRPr/>
          </a:p>
        </p:txBody>
      </p:sp>
      <p:sp>
        <p:nvSpPr>
          <p:cNvPr id="725" name="Google Shape;725;g3dd4f8bfebc_0_67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As part of the internship, Power Skills sessions were conducted to develop essential professional and interpersonal skills required in a corporate environment. These sessions focused on improving communication, teamwork, and overall personality development.</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training helped in enhancing confidence, presentation skills, and the ability to express ideas clearly. It also emphasized the importance of professional behavior, time management, and adaptability in a workplace.</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26" name="Google Shape;726;g3dd4f8bfebc_0_67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3dd4f8bfebc_0_67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Skills Learnt</a:t>
            </a:r>
            <a:endParaRPr/>
          </a:p>
        </p:txBody>
      </p:sp>
      <p:sp>
        <p:nvSpPr>
          <p:cNvPr id="733" name="Google Shape;733;g3dd4f8bfebc_0_67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l" rtl="0">
              <a:lnSpc>
                <a:spcPct val="115000"/>
              </a:lnSpc>
              <a:spcBef>
                <a:spcPts val="1200"/>
              </a:spcBef>
              <a:spcAft>
                <a:spcPts val="0"/>
              </a:spcAft>
              <a:buClr>
                <a:schemeClr val="dk1"/>
              </a:buClr>
              <a:buSzPct val="39286"/>
              <a:buFont typeface="Arial"/>
              <a:buNone/>
            </a:pPr>
            <a:r>
              <a:rPr lang="en-US">
                <a:latin typeface="Times New Roman"/>
                <a:ea typeface="Times New Roman"/>
                <a:cs typeface="Times New Roman"/>
                <a:sym typeface="Times New Roman"/>
              </a:rPr>
              <a:t>The Power Skills training included various important aspects of professional development:</a:t>
            </a:r>
            <a:endParaRPr>
              <a:latin typeface="Times New Roman"/>
              <a:ea typeface="Times New Roman"/>
              <a:cs typeface="Times New Roman"/>
              <a:sym typeface="Times New Roman"/>
            </a:endParaRPr>
          </a:p>
          <a:p>
            <a:pPr marL="457200" lvl="0" indent="-293211" algn="l" rtl="0">
              <a:lnSpc>
                <a:spcPct val="115000"/>
              </a:lnSpc>
              <a:spcBef>
                <a:spcPts val="1200"/>
              </a:spcBef>
              <a:spcAft>
                <a:spcPts val="0"/>
              </a:spcAft>
              <a:buSzPct val="39286"/>
              <a:buFont typeface="Times New Roman"/>
              <a:buChar char="●"/>
            </a:pPr>
            <a:r>
              <a:rPr lang="en-US">
                <a:latin typeface="Times New Roman"/>
                <a:ea typeface="Times New Roman"/>
                <a:cs typeface="Times New Roman"/>
                <a:sym typeface="Times New Roman"/>
              </a:rPr>
              <a:t>Effective communication and presentation skills</a:t>
            </a:r>
            <a:endParaRPr>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a:latin typeface="Times New Roman"/>
                <a:ea typeface="Times New Roman"/>
                <a:cs typeface="Times New Roman"/>
                <a:sym typeface="Times New Roman"/>
              </a:rPr>
              <a:t>Team collaboration and coordination</a:t>
            </a:r>
            <a:endParaRPr>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a:latin typeface="Times New Roman"/>
                <a:ea typeface="Times New Roman"/>
                <a:cs typeface="Times New Roman"/>
                <a:sym typeface="Times New Roman"/>
              </a:rPr>
              <a:t>Time management and productivity</a:t>
            </a:r>
            <a:endParaRPr>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a:latin typeface="Times New Roman"/>
                <a:ea typeface="Times New Roman"/>
                <a:cs typeface="Times New Roman"/>
                <a:sym typeface="Times New Roman"/>
              </a:rPr>
              <a:t>Problem-solving and decision-making</a:t>
            </a:r>
            <a:endParaRPr>
              <a:latin typeface="Times New Roman"/>
              <a:ea typeface="Times New Roman"/>
              <a:cs typeface="Times New Roman"/>
              <a:sym typeface="Times New Roman"/>
            </a:endParaRPr>
          </a:p>
          <a:p>
            <a:pPr marL="457200" lvl="0" indent="-293211" algn="l" rtl="0">
              <a:lnSpc>
                <a:spcPct val="115000"/>
              </a:lnSpc>
              <a:spcBef>
                <a:spcPts val="0"/>
              </a:spcBef>
              <a:spcAft>
                <a:spcPts val="0"/>
              </a:spcAft>
              <a:buSzPct val="39286"/>
              <a:buFont typeface="Times New Roman"/>
              <a:buChar char="●"/>
            </a:pPr>
            <a:r>
              <a:rPr lang="en-US">
                <a:latin typeface="Times New Roman"/>
                <a:ea typeface="Times New Roman"/>
                <a:cs typeface="Times New Roman"/>
                <a:sym typeface="Times New Roman"/>
              </a:rPr>
              <a:t>Professional ethics and workplace behavior</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9286"/>
              <a:buFont typeface="Arial"/>
              <a:buNone/>
            </a:pPr>
            <a:r>
              <a:rPr lang="en-US">
                <a:latin typeface="Times New Roman"/>
                <a:ea typeface="Times New Roman"/>
                <a:cs typeface="Times New Roman"/>
                <a:sym typeface="Times New Roman"/>
              </a:rPr>
              <a:t>These skills are essential for working efficiently in a professional environment.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34" name="Google Shape;734;g3dd4f8bfebc_0_67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3dd4f8bfebc_0_49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Skills Learnt</a:t>
            </a:r>
            <a:endParaRPr/>
          </a:p>
        </p:txBody>
      </p:sp>
      <p:sp>
        <p:nvSpPr>
          <p:cNvPr id="741" name="Google Shape;741;g3dd4f8bfebc_0_49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Overall, the internship contributed significantly to both technical and professional growth. It improved coding efficiency, problem-solving ability, and understanding of real-world application development.</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skills have built a strong base for future learning and have prepared me to work confidently in a professional software development environment.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42" name="Google Shape;742;g3dd4f8bfebc_0_49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3dd4f8bfebc_0_50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Challenges faced</a:t>
            </a:r>
            <a:endParaRPr/>
          </a:p>
        </p:txBody>
      </p:sp>
      <p:sp>
        <p:nvSpPr>
          <p:cNvPr id="749" name="Google Shape;749;g3dd4f8bfebc_0_50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During the internship, various challenges were encountered while learning new technologies and implementing them in practical scenarios. Since the training covered multiple domains within a short period, it required continuous effort and focus to keep up with the pace.</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challenges were not obstacles but important learning opportunities that helped in gaining deeper insights and improving overall understanding.</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50" name="Google Shape;750;g3dd4f8bfebc_0_50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3dd4f8bfebc_0_51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757" name="Google Shape;757;g3dd4f8bfebc_0_51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a:bodyPr>
          <a:lstStyle/>
          <a:p>
            <a:pPr marL="0" lvl="0" indent="0" algn="just" rtl="0">
              <a:lnSpc>
                <a:spcPct val="115000"/>
              </a:lnSpc>
              <a:spcBef>
                <a:spcPts val="1200"/>
              </a:spcBef>
              <a:spcAft>
                <a:spcPts val="0"/>
              </a:spcAft>
              <a:buNone/>
            </a:pPr>
            <a:r>
              <a:rPr lang="en-US" dirty="0">
                <a:latin typeface="Times New Roman"/>
                <a:ea typeface="Times New Roman"/>
                <a:cs typeface="Times New Roman"/>
                <a:sym typeface="Times New Roman"/>
              </a:rPr>
              <a:t>1.Understanding Multiple Tasks</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One of the major challenges was learning and managing multiple technologies simultaneously, including JAVA, SQL, Web API, MVC,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Core, and Testing. Each of these technologies has its own concepts, syntax, and implementation approach.</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ct val="39286"/>
              <a:buFont typeface="Arial"/>
              <a:buNone/>
            </a:pPr>
            <a:r>
              <a:rPr lang="en-US" dirty="0">
                <a:latin typeface="Times New Roman"/>
                <a:ea typeface="Times New Roman"/>
                <a:cs typeface="Times New Roman"/>
                <a:sym typeface="Times New Roman"/>
              </a:rPr>
              <a:t>Understanding how to switch between these technologies and maintain clarity required consistent practice and revision. Over time, this challenge helped in building adaptability and a broader technical perspective</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758" name="Google Shape;758;g3dd4f8bfebc_0_51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g3dd4f8bfebc_0_52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765" name="Google Shape;765;g3dd4f8bfebc_0_52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a:t>2</a:t>
            </a:r>
            <a:r>
              <a:rPr lang="en-US">
                <a:latin typeface="Times New Roman"/>
                <a:ea typeface="Times New Roman"/>
                <a:cs typeface="Times New Roman"/>
                <a:sym typeface="Times New Roman"/>
              </a:rPr>
              <a:t>.Practical Implementation</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While theoretical concepts were easier to understand during sessions, implementing them through coding assignments was sometimes challenging. Writing correct logic, handling edge cases, and ensuring error-free execution required multiple attempts.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process improved coding skills, patience, and the ability to learn from mistakes, which is an important part of software development.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66" name="Google Shape;766;g3dd4f8bfebc_0_52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3dd4f8bfebc_0_53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773" name="Google Shape;773;g3dd4f8bfebc_0_53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a:latin typeface="Times New Roman"/>
                <a:ea typeface="Times New Roman"/>
                <a:cs typeface="Times New Roman"/>
                <a:sym typeface="Times New Roman"/>
              </a:rPr>
              <a:t>3.Integration of Various Technologies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Another significant challenge was integrating different technologies to form a complete application flow. Connecting backend logic with databases, integrating APIs, and structuring applications using MVC required a clear understanding of how each component interacts.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Initially, this integration seemed complex, but with practice and repeated implementation, it became easier to visualize and execute.</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74" name="Google Shape;774;g3dd4f8bfebc_0_53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3dd4f8bfebc_0_53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781" name="Google Shape;781;g3dd4f8bfebc_0_53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a:latin typeface="Times New Roman"/>
                <a:ea typeface="Times New Roman"/>
                <a:cs typeface="Times New Roman"/>
                <a:sym typeface="Times New Roman"/>
              </a:rPr>
              <a:t>4.Time Management</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Managing time effectively during the training period was also a challenge. Balancing learning sessions, completing assignments, and revising concepts required proper planning and discipline.</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Over time, better time management skills were developed, which helped in completing tasks efficiently and maintaining consistency in learning.</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82" name="Google Shape;782;g3dd4f8bfebc_0_53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86</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3dd4f8bfebc_0_54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789" name="Google Shape;789;g3dd4f8bfebc_0_54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a:latin typeface="Times New Roman"/>
                <a:ea typeface="Times New Roman"/>
                <a:cs typeface="Times New Roman"/>
                <a:sym typeface="Times New Roman"/>
              </a:rPr>
              <a:t>5. Debugging</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Debugging errors and handling unexpected issues in code was another important challenge. Identifying the root cause of errors and fixing them required logical thinking and a systematic approach.</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helped in developing patience and improved the ability to analyze problems deeply, which is a key skill for any developer.</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790" name="Google Shape;790;g3dd4f8bfebc_0_54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g3dd4f8bfebc_0_55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797" name="Google Shape;797;g3dd4f8bfebc_0_55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None/>
            </a:pPr>
            <a:r>
              <a:rPr lang="en-US" dirty="0">
                <a:latin typeface="Times New Roman"/>
                <a:ea typeface="Times New Roman"/>
                <a:cs typeface="Times New Roman"/>
                <a:sym typeface="Times New Roman"/>
              </a:rPr>
              <a:t>6. Learning new technologies</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training involved exposure to new technologies such as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Core and Testing Tools, which required understanding new concepts within a limited time. Adapting to these technologies was initially challenging due to unfamiliarity.</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However, continuous learning and practice helped in becoming more comfortable and confident in using these tools.</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798" name="Google Shape;798;g3dd4f8bfebc_0_55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3dd4f8bfebc_0_56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805" name="Google Shape;805;g3dd4f8bfebc_0_56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challenges were gradually overcome through consistent effort, regular practice, and guidance from trainers. Revisiting concepts, working on assignments, and learning from mistakes played a key role in improving performance.This process helped in building confidence and developing a positive approach towards learning new technologies.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806" name="Google Shape;806;g3dd4f8bfebc_0_56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89</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3dd4f8bfebc_0_56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813" name="Google Shape;813;g3dd4f8bfebc_0_56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Facing these challenges helped in developing important skills such as problem-solving, logical thinking, patience, and adaptability. It also improved the ability to handle complex tasks and work under pressure.These learnings are essential for working in real-world software development environments.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814" name="Google Shape;814;g3dd4f8bfebc_0_56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90</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3dd4f8bfebc_0_58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Challenges faced</a:t>
            </a:r>
            <a:endParaRPr/>
          </a:p>
        </p:txBody>
      </p:sp>
      <p:sp>
        <p:nvSpPr>
          <p:cNvPr id="821" name="Google Shape;821;g3dd4f8bfebc_0_58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Overall, the challenges faced during the internship played a significant role in enhancing both technical and professional skills. They contributed to a deeper understanding of concepts and improved the ability to apply knowledge effectively.</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experiences made the learning process more meaningful and prepared for future challenges in the professional journey.</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822" name="Google Shape;822;g3dd4f8bfebc_0_58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91</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3dd4f8bfebc_0_58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Conclusion</a:t>
            </a:r>
            <a:endParaRPr/>
          </a:p>
        </p:txBody>
      </p:sp>
      <p:sp>
        <p:nvSpPr>
          <p:cNvPr id="829" name="Google Shape;829;g3dd4f8bfebc_0_58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internship provided a comprehensive and structured learning experience by combining theoretical concepts with practical implementation. It helped in building a strong foundation in full-stack development using the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ecosystem.</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training was designed in a way that ensured continuous learning, gradual improvement, and better understanding of real-world application development. This made the overall learning process effective and industry-oriented.</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830" name="Google Shape;830;g3dd4f8bfebc_0_58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3dd4f8bfebc_0_70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Conclusion</a:t>
            </a:r>
            <a:endParaRPr/>
          </a:p>
        </p:txBody>
      </p:sp>
      <p:sp>
        <p:nvSpPr>
          <p:cNvPr id="837" name="Google Shape;837;g3dd4f8bfebc_0_703"/>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During the internship, various technologies such as JAVA, SQL, Web API, MVC,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Core, and Testing Tools were learned and applied through hands-on assignments and exercises. Each technology contributed to a different aspect of application development.</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This helped in understanding how backend logic, database management, API communication, and application structuring work together to build a complete and functional system.</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838" name="Google Shape;838;g3dd4f8bfebc_0_70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93</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3dd4f8bfebc_0_74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Conclusion</a:t>
            </a:r>
            <a:endParaRPr/>
          </a:p>
        </p:txBody>
      </p:sp>
      <p:sp>
        <p:nvSpPr>
          <p:cNvPr id="845" name="Google Shape;845;g3dd4f8bfebc_0_74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training classes played a crucial role in shaping the overall learning experience during the internship. They provided a structured and guided approach to understanding complex concepts, making it easier to learn new technologies step by step.</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Each session focused on both theoretical explanation and practical implementation, which helped in building strong conceptual clarity.</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846" name="Google Shape;846;g3dd4f8bfebc_0_74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94</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3dd4f8bfebc_0_75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Conclusion</a:t>
            </a:r>
            <a:endParaRPr/>
          </a:p>
        </p:txBody>
      </p:sp>
      <p:sp>
        <p:nvSpPr>
          <p:cNvPr id="853" name="Google Shape;853;g3dd4f8bfebc_0_75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immediate application of concepts through assignments ensured better understanding and retention of knowledge. The classes also created a disciplined learning environment, encouraging consistency, regular practice, and continuous improvement.</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Overall, they significantly contributed to developing technical skills, problem-solving abilities, and confidence in working with full-stack technologies.</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854" name="Google Shape;854;g3dd4f8bfebc_0_75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95</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3dd4f8bfebc_0_71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Conclusion</a:t>
            </a:r>
            <a:endParaRPr/>
          </a:p>
        </p:txBody>
      </p:sp>
      <p:sp>
        <p:nvSpPr>
          <p:cNvPr id="861" name="Google Shape;861;g3dd4f8bfebc_0_71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practical assignments played a key role in strengthening coding skills and improving problem-solving ability. Implementing concepts through coding helped in gaining clarity and confidence in handling development tasks.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hands-on approach provided exposure to real-world scenarios and improved the ability to apply theoretical knowledge effectively.</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862" name="Google Shape;862;g3dd4f8bfebc_0_71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96</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3dd4f8bfebc_0_71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Conclusion</a:t>
            </a:r>
            <a:endParaRPr/>
          </a:p>
        </p:txBody>
      </p:sp>
      <p:sp>
        <p:nvSpPr>
          <p:cNvPr id="869" name="Google Shape;869;g3dd4f8bfebc_0_71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Overall, the internship was a valuable learning experience that provided both technical knowledge and practical exposure. It helped in building confidence and developing the ability to work independently on coding tasks.The structured training and continuous practice made the learning process effective and meaningful.</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870" name="Google Shape;870;g3dd4f8bfebc_0_71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97</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3dd4f8bfebc_0_72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Conclusion</a:t>
            </a:r>
            <a:endParaRPr/>
          </a:p>
        </p:txBody>
      </p:sp>
      <p:sp>
        <p:nvSpPr>
          <p:cNvPr id="877" name="Google Shape;877;g3dd4f8bfebc_0_72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internship successfully bridged the gap between theoretical learning and practical implementation. It provided a clear understanding of full-stack development and modern application development practices.</a:t>
            </a:r>
            <a:endParaRPr>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knowledge and experience gained during this training will be highly beneficial for future academic and professional growth, especially in the field of software development.</a:t>
            </a:r>
            <a:endParaRPr>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878" name="Google Shape;878;g3dd4f8bfebc_0_72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98</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3dd4f8bfebc_0_73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References</a:t>
            </a:r>
            <a:endParaRPr/>
          </a:p>
        </p:txBody>
      </p:sp>
      <p:sp>
        <p:nvSpPr>
          <p:cNvPr id="885" name="Google Shape;885;g3dd4f8bfebc_0_73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lnSpcReduction="10000"/>
          </a:bodyPr>
          <a:lstStyle/>
          <a:p>
            <a:pPr marL="0" lvl="0" indent="0" algn="l" rtl="0">
              <a:lnSpc>
                <a:spcPct val="115000"/>
              </a:lnSpc>
              <a:spcBef>
                <a:spcPts val="1200"/>
              </a:spcBef>
              <a:spcAft>
                <a:spcPts val="0"/>
              </a:spcAft>
              <a:buNone/>
            </a:pPr>
            <a:r>
              <a:rPr lang="en-US" dirty="0">
                <a:latin typeface="Times New Roman"/>
                <a:ea typeface="Times New Roman"/>
                <a:cs typeface="Times New Roman"/>
                <a:sym typeface="Times New Roman"/>
              </a:rPr>
              <a:t>The resources that helped throughout the training are as follows:</a:t>
            </a:r>
            <a:endParaRPr dirty="0">
              <a:latin typeface="Times New Roman"/>
              <a:ea typeface="Times New Roman"/>
              <a:cs typeface="Times New Roman"/>
              <a:sym typeface="Times New Roman"/>
            </a:endParaRPr>
          </a:p>
          <a:p>
            <a:pPr marL="457200" lvl="0" indent="-298450" algn="l" rtl="0">
              <a:lnSpc>
                <a:spcPct val="115000"/>
              </a:lnSpc>
              <a:spcBef>
                <a:spcPts val="1200"/>
              </a:spcBef>
              <a:spcAft>
                <a:spcPts val="0"/>
              </a:spcAft>
              <a:buSzPts val="1100"/>
              <a:buFont typeface="Times New Roman"/>
              <a:buChar char="●"/>
            </a:pPr>
            <a:r>
              <a:rPr lang="en-US" dirty="0">
                <a:latin typeface="Times New Roman"/>
                <a:ea typeface="Times New Roman"/>
                <a:cs typeface="Times New Roman"/>
                <a:sym typeface="Times New Roman"/>
              </a:rPr>
              <a:t>Cognizant </a:t>
            </a:r>
            <a:r>
              <a:rPr lang="en-US" dirty="0" err="1">
                <a:latin typeface="Times New Roman"/>
                <a:ea typeface="Times New Roman"/>
                <a:cs typeface="Times New Roman"/>
                <a:sym typeface="Times New Roman"/>
              </a:rPr>
              <a:t>SpringBoot</a:t>
            </a:r>
            <a:r>
              <a:rPr lang="en-US" dirty="0">
                <a:latin typeface="Times New Roman"/>
                <a:ea typeface="Times New Roman"/>
                <a:cs typeface="Times New Roman"/>
                <a:sym typeface="Times New Roman"/>
              </a:rPr>
              <a:t> Training Material</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Trainer recorded sessions and notes</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err="1">
                <a:latin typeface="Times New Roman"/>
                <a:ea typeface="Times New Roman"/>
                <a:cs typeface="Times New Roman"/>
                <a:sym typeface="Times New Roman"/>
              </a:rPr>
              <a:t>Tekstac</a:t>
            </a:r>
            <a:endParaRPr dirty="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US" dirty="0">
                <a:latin typeface="Times New Roman"/>
                <a:ea typeface="Times New Roman"/>
                <a:cs typeface="Times New Roman"/>
                <a:sym typeface="Times New Roman"/>
              </a:rPr>
              <a:t>Testing Tools</a:t>
            </a:r>
            <a:endParaRPr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These sources were used to understand concepts, practice coding, and gain knowledge about application development and related technologies.</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886" name="Google Shape;886;g3dd4f8bfebc_0_73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99</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3dd4f8bfebc_0_75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References</a:t>
            </a:r>
            <a:endParaRPr/>
          </a:p>
        </p:txBody>
      </p:sp>
      <p:sp>
        <p:nvSpPr>
          <p:cNvPr id="893" name="Google Shape;893;g3dd4f8bfebc_0_75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The guidance provided by trainers and mentors during the SDET training was extremely helpful in understanding complex concepts. Their support during assignments and doubt-solving sessions contributed significantly to the learning process.</a:t>
            </a:r>
            <a:endParaRPr dirty="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dirty="0">
                <a:latin typeface="Times New Roman"/>
                <a:ea typeface="Times New Roman"/>
                <a:cs typeface="Times New Roman"/>
                <a:sym typeface="Times New Roman"/>
              </a:rPr>
              <a:t>This continuous support helped in improving both conceptual clarity and practical implementation skills.</a:t>
            </a:r>
            <a:endParaRPr dirty="0">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
        <p:nvSpPr>
          <p:cNvPr id="894" name="Google Shape;894;g3dd4f8bfebc_0_75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100</a:t>
            </a:fld>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6585</Words>
  <Application>Microsoft Office PowerPoint</Application>
  <PresentationFormat>Widescreen</PresentationFormat>
  <Paragraphs>602</Paragraphs>
  <Slides>100</Slides>
  <Notes>100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100</vt:i4>
      </vt:variant>
    </vt:vector>
  </HeadingPairs>
  <TitlesOfParts>
    <vt:vector size="106" baseType="lpstr">
      <vt:lpstr>Calibri</vt:lpstr>
      <vt:lpstr>Times New Roman</vt:lpstr>
      <vt:lpstr>Arial</vt:lpstr>
      <vt:lpstr>Raleway ExtraBold</vt:lpstr>
      <vt:lpstr>Arial Black</vt:lpstr>
      <vt:lpstr>1_Office Theme</vt:lpstr>
      <vt:lpstr>PowerPoint Presentation</vt:lpstr>
      <vt:lpstr>Outline</vt:lpstr>
      <vt:lpstr>Introduction to Company</vt:lpstr>
      <vt:lpstr>Introduction to Company</vt:lpstr>
      <vt:lpstr>Introduction to Company</vt:lpstr>
      <vt:lpstr>Introduction to Company</vt:lpstr>
      <vt:lpstr>Introduction to Company</vt:lpstr>
      <vt:lpstr>Introduction to Company</vt:lpstr>
      <vt:lpstr>Introduction to Company</vt:lpstr>
      <vt:lpstr>Introduction to Company</vt:lpstr>
      <vt:lpstr>Introduction to Company</vt:lpstr>
      <vt:lpstr>Introduction to Job Profile</vt:lpstr>
      <vt:lpstr>Introduction to Job Profile</vt:lpstr>
      <vt:lpstr>Introduction to Job Profile</vt:lpstr>
      <vt:lpstr>Introduction to Job Profile</vt:lpstr>
      <vt:lpstr>Introduction to Job Profile</vt:lpstr>
      <vt:lpstr>Introduction to Job Profile</vt:lpstr>
      <vt:lpstr>Introduction to Job Profile</vt:lpstr>
      <vt:lpstr>Introduction to Job Profile</vt:lpstr>
      <vt:lpstr>Introduction to Project</vt:lpstr>
      <vt:lpstr>Introduction to Project</vt:lpstr>
      <vt:lpstr>Introduction to Project</vt:lpstr>
      <vt:lpstr>Introduction to Project</vt:lpstr>
      <vt:lpstr>Introduction to Project</vt:lpstr>
      <vt:lpstr>Introduction to Project</vt:lpstr>
      <vt:lpstr>Project Brief</vt:lpstr>
      <vt:lpstr>Project Brief</vt:lpstr>
      <vt:lpstr>Project Brief</vt:lpstr>
      <vt:lpstr>Project Brief</vt:lpstr>
      <vt:lpstr>Project Brief</vt:lpstr>
      <vt:lpstr>Project Brief</vt:lpstr>
      <vt:lpstr>Project Brief</vt:lpstr>
      <vt:lpstr>Objectives of Internship</vt:lpstr>
      <vt:lpstr>Objectives of Internship</vt:lpstr>
      <vt:lpstr>Objectives of Internship</vt:lpstr>
      <vt:lpstr>Objectives of Internship</vt:lpstr>
      <vt:lpstr>Objectives of Internship</vt:lpstr>
      <vt:lpstr>Objectives of Internship</vt:lpstr>
      <vt:lpstr>Objectives Achieved</vt:lpstr>
      <vt:lpstr>Objectives Achieved</vt:lpstr>
      <vt:lpstr>Objectives Achieved</vt:lpstr>
      <vt:lpstr>Objectives Achieved</vt:lpstr>
      <vt:lpstr>Objectives Achieved</vt:lpstr>
      <vt:lpstr>Objectives Achieved</vt:lpstr>
      <vt:lpstr>Methodology</vt:lpstr>
      <vt:lpstr>Methodology</vt:lpstr>
      <vt:lpstr>Methodology</vt:lpstr>
      <vt:lpstr>Methodology</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Results</vt:lpstr>
      <vt:lpstr>Results</vt:lpstr>
      <vt:lpstr>Results</vt:lpstr>
      <vt:lpstr>Observations</vt:lpstr>
      <vt:lpstr>Work Experience</vt:lpstr>
      <vt:lpstr>Work Experience</vt:lpstr>
      <vt:lpstr>Work Experience</vt:lpstr>
      <vt:lpstr>Work Experience</vt:lpstr>
      <vt:lpstr>Work Experience</vt:lpstr>
      <vt:lpstr>Work Experience</vt:lpstr>
      <vt:lpstr>Skills Learnt</vt:lpstr>
      <vt:lpstr>Skills Learnt</vt:lpstr>
      <vt:lpstr>Skills Learnt</vt:lpstr>
      <vt:lpstr>Skills Learnt</vt:lpstr>
      <vt:lpstr>Skills Learnt</vt:lpstr>
      <vt:lpstr>Skills Learnt</vt:lpstr>
      <vt:lpstr>Skills Learnt</vt:lpstr>
      <vt:lpstr>Skills Learnt</vt:lpstr>
      <vt:lpstr>Skills Learnt</vt:lpstr>
      <vt:lpstr>Skills Learnt</vt:lpstr>
      <vt:lpstr>Challenges faced</vt:lpstr>
      <vt:lpstr>Challenges faced</vt:lpstr>
      <vt:lpstr>Challenges faced</vt:lpstr>
      <vt:lpstr>Challenges faced</vt:lpstr>
      <vt:lpstr>Challenges faced</vt:lpstr>
      <vt:lpstr>Challenges faced</vt:lpstr>
      <vt:lpstr>Challenges faced</vt:lpstr>
      <vt:lpstr>Challenges faced</vt:lpstr>
      <vt:lpstr>Challenges faced</vt:lpstr>
      <vt:lpstr>Challenges faced</vt:lpstr>
      <vt:lpstr>Conclusion</vt:lpstr>
      <vt:lpstr>Conclusion</vt:lpstr>
      <vt:lpstr>Conclusion</vt:lpstr>
      <vt:lpstr>Conclusion</vt:lpstr>
      <vt:lpstr>Conclusion</vt:lpstr>
      <vt:lpstr>Conclusion</vt:lpstr>
      <vt:lpstr>Conclusion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Branding</dc:creator>
  <cp:lastModifiedBy>Mishra, Ujjwal (Contractor)</cp:lastModifiedBy>
  <cp:revision>2</cp:revision>
  <dcterms:created xsi:type="dcterms:W3CDTF">2019-01-09T10:33:58Z</dcterms:created>
  <dcterms:modified xsi:type="dcterms:W3CDTF">2026-04-17T06:05:31Z</dcterms:modified>
</cp:coreProperties>
</file>